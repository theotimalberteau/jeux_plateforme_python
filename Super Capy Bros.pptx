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68" r:id="rId8"/>
    <p:sldId id="261" r:id="rId9"/>
    <p:sldId id="259" r:id="rId10"/>
    <p:sldId id="260" r:id="rId11"/>
    <p:sldId id="262" r:id="rId12"/>
    <p:sldId id="267" r:id="rId13"/>
    <p:sldId id="263" r:id="rId14"/>
    <p:sldId id="264" r:id="rId15"/>
    <p:sldId id="265" r:id="rId16"/>
    <p:sldId id="269" r:id="rId17"/>
    <p:sldId id="266" r:id="rId1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6438BC-FFAE-41AD-9221-B878E09659C8}" v="2" dt="2023-05-30T21:28:33.4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5" d="100"/>
          <a:sy n="75" d="100"/>
        </p:scale>
        <p:origin x="54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nsho UwU" userId="2da206d3c1b7bda8" providerId="LiveId" clId="{466438BC-FFAE-41AD-9221-B878E09659C8}"/>
    <pc:docChg chg="custSel modSld">
      <pc:chgData name="Sunsho UwU" userId="2da206d3c1b7bda8" providerId="LiveId" clId="{466438BC-FFAE-41AD-9221-B878E09659C8}" dt="2023-05-30T21:28:59.539" v="135" actId="1036"/>
      <pc:docMkLst>
        <pc:docMk/>
      </pc:docMkLst>
      <pc:sldChg chg="addSp delSp modSp mod">
        <pc:chgData name="Sunsho UwU" userId="2da206d3c1b7bda8" providerId="LiveId" clId="{466438BC-FFAE-41AD-9221-B878E09659C8}" dt="2023-05-30T21:28:59.539" v="135" actId="1036"/>
        <pc:sldMkLst>
          <pc:docMk/>
          <pc:sldMk cId="3440064037" sldId="256"/>
        </pc:sldMkLst>
        <pc:spChg chg="del">
          <ac:chgData name="Sunsho UwU" userId="2da206d3c1b7bda8" providerId="LiveId" clId="{466438BC-FFAE-41AD-9221-B878E09659C8}" dt="2023-05-30T21:28:43.024" v="112" actId="478"/>
          <ac:spMkLst>
            <pc:docMk/>
            <pc:sldMk cId="3440064037" sldId="256"/>
            <ac:spMk id="12" creationId="{D102F0B1-59AA-D532-EAD5-45D321C8C3F7}"/>
          </ac:spMkLst>
        </pc:spChg>
        <pc:picChg chg="add mod">
          <ac:chgData name="Sunsho UwU" userId="2da206d3c1b7bda8" providerId="LiveId" clId="{466438BC-FFAE-41AD-9221-B878E09659C8}" dt="2023-05-30T21:28:59.539" v="135" actId="1036"/>
          <ac:picMkLst>
            <pc:docMk/>
            <pc:sldMk cId="3440064037" sldId="256"/>
            <ac:picMk id="11" creationId="{18031EC5-5CBB-BAFF-5B3D-07492E055407}"/>
          </ac:picMkLst>
        </pc:picChg>
      </pc:sldChg>
      <pc:sldChg chg="addSp delSp modSp mod">
        <pc:chgData name="Sunsho UwU" userId="2da206d3c1b7bda8" providerId="LiveId" clId="{466438BC-FFAE-41AD-9221-B878E09659C8}" dt="2023-05-30T21:28:29.663" v="37" actId="1036"/>
        <pc:sldMkLst>
          <pc:docMk/>
          <pc:sldMk cId="2574141747" sldId="257"/>
        </pc:sldMkLst>
        <pc:spChg chg="del">
          <ac:chgData name="Sunsho UwU" userId="2da206d3c1b7bda8" providerId="LiveId" clId="{466438BC-FFAE-41AD-9221-B878E09659C8}" dt="2023-05-30T21:28:21.990" v="4" actId="478"/>
          <ac:spMkLst>
            <pc:docMk/>
            <pc:sldMk cId="2574141747" sldId="257"/>
            <ac:spMk id="3" creationId="{B8C9920C-0296-C0EF-76B7-CF7CF425FB56}"/>
          </ac:spMkLst>
        </pc:spChg>
        <pc:spChg chg="add mod">
          <ac:chgData name="Sunsho UwU" userId="2da206d3c1b7bda8" providerId="LiveId" clId="{466438BC-FFAE-41AD-9221-B878E09659C8}" dt="2023-05-30T21:28:21.990" v="4" actId="478"/>
          <ac:spMkLst>
            <pc:docMk/>
            <pc:sldMk cId="2574141747" sldId="257"/>
            <ac:spMk id="23" creationId="{A688780E-B822-C97F-A246-50A4E2C49EBE}"/>
          </ac:spMkLst>
        </pc:spChg>
        <pc:picChg chg="add mod">
          <ac:chgData name="Sunsho UwU" userId="2da206d3c1b7bda8" providerId="LiveId" clId="{466438BC-FFAE-41AD-9221-B878E09659C8}" dt="2023-05-30T21:28:29.663" v="37" actId="1036"/>
          <ac:picMkLst>
            <pc:docMk/>
            <pc:sldMk cId="2574141747" sldId="257"/>
            <ac:picMk id="16" creationId="{24FBCD96-CAF1-1A6C-DE47-932256D3EB57}"/>
          </ac:picMkLst>
        </pc:picChg>
      </pc:sldChg>
    </pc:docChg>
  </pc:docChgLst>
  <pc:docChgLst>
    <pc:chgData name="Theotim ALBERTEAU" userId="4d2cc04b-82c9-416a-ba67-5d953e9666a8" providerId="ADAL" clId="{06385E01-C27F-48C1-934A-B2E9F4C1C73F}"/>
    <pc:docChg chg="custSel modSld">
      <pc:chgData name="Theotim ALBERTEAU" userId="4d2cc04b-82c9-416a-ba67-5d953e9666a8" providerId="ADAL" clId="{06385E01-C27F-48C1-934A-B2E9F4C1C73F}" dt="2023-05-31T06:24:08.063" v="0" actId="478"/>
      <pc:docMkLst>
        <pc:docMk/>
      </pc:docMkLst>
      <pc:sldChg chg="delSp mod">
        <pc:chgData name="Theotim ALBERTEAU" userId="4d2cc04b-82c9-416a-ba67-5d953e9666a8" providerId="ADAL" clId="{06385E01-C27F-48C1-934A-B2E9F4C1C73F}" dt="2023-05-31T06:24:08.063" v="0" actId="478"/>
        <pc:sldMkLst>
          <pc:docMk/>
          <pc:sldMk cId="2574141747" sldId="257"/>
        </pc:sldMkLst>
        <pc:spChg chg="del">
          <ac:chgData name="Theotim ALBERTEAU" userId="4d2cc04b-82c9-416a-ba67-5d953e9666a8" providerId="ADAL" clId="{06385E01-C27F-48C1-934A-B2E9F4C1C73F}" dt="2023-05-31T06:24:08.063" v="0" actId="478"/>
          <ac:spMkLst>
            <pc:docMk/>
            <pc:sldMk cId="2574141747" sldId="257"/>
            <ac:spMk id="23" creationId="{A688780E-B822-C97F-A246-50A4E2C49EB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F202E7-5FAD-FEE5-CBE0-EB6E9EC945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72045BB-1456-0AEC-86B7-BD99375A3E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571D29-D868-7F46-DA6A-8FB261236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959BE-E185-4530-A500-1D40455D2F6F}" type="datetimeFigureOut">
              <a:rPr lang="fr-FR" smtClean="0"/>
              <a:t>31/05/2023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F09F34-0BB8-93D6-0246-C3EBCDB0A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162E6F-CDEC-A97A-A8C4-45B50DB2B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64740-6153-4913-9360-AF68DF250F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5415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D9122B-C98A-B907-941A-27F567A2B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3B76EC3-E41E-23DA-3BEE-BCA0A613A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980C7D0-8F41-33DE-808B-4F88DBA81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959BE-E185-4530-A500-1D40455D2F6F}" type="datetimeFigureOut">
              <a:rPr lang="fr-FR" smtClean="0"/>
              <a:t>31/05/2023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45C6FBF-66E8-E065-A769-6B5FCDAEE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143191F-1198-A9B3-1BBA-5BA34A3D2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64740-6153-4913-9360-AF68DF250F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6541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01FA14-6EFD-6D93-59D0-6A7F9B41C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4C6F671-5916-2421-6F3D-A9635C97C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51A274-93DF-9E6B-0779-3A1C9C16C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959BE-E185-4530-A500-1D40455D2F6F}" type="datetimeFigureOut">
              <a:rPr lang="fr-FR" smtClean="0"/>
              <a:t>31/05/2023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BE4B719-E414-3623-4710-E36FCBD6D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FB26879-7F95-E2FB-2E6A-7A2676A56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64740-6153-4913-9360-AF68DF250F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0549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2C2EAA-0E53-0F2B-FBC8-769C90565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39CFF8-D056-E6B4-B3DD-E11FD92B1B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C91430F-5FCE-2AD7-EDAC-59EA37AC4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7166ADF-284B-4CA3-3AEA-E8CC2640C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959BE-E185-4530-A500-1D40455D2F6F}" type="datetimeFigureOut">
              <a:rPr lang="fr-FR" smtClean="0"/>
              <a:t>31/05/2023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B209B56-CE45-1010-68F0-ACEF61AD1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176BFD3-3BFA-95EE-58A2-653DF089F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64740-6153-4913-9360-AF68DF250F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387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173770-7E30-6035-2F06-999DA37C8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E67F356-F567-6968-2A31-FA38F4D17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307B198-D986-E1A6-933F-541EBE89C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3F9B5B6-9F87-1D68-C86D-2A7D76E697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406ECBD-9FA0-D921-26D8-87FAC828D7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D512AE2-1D4B-4F56-30B0-0820A5612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959BE-E185-4530-A500-1D40455D2F6F}" type="datetimeFigureOut">
              <a:rPr lang="fr-FR" smtClean="0"/>
              <a:t>31/05/2023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3779A60-39C8-6834-2EBE-0A588D65C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9ED0273-93EB-3BF4-3825-235CB3301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64740-6153-4913-9360-AF68DF250F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2532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CA6BC3-2257-88F0-6110-E1D0905C0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53041D9-F03E-D50D-6208-7E2A16E5E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959BE-E185-4530-A500-1D40455D2F6F}" type="datetimeFigureOut">
              <a:rPr lang="fr-FR" smtClean="0"/>
              <a:t>31/05/2023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302C1FA-F1FC-87E1-A166-DE1FBED19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46FB266-51B6-DA90-51B0-0DE85AAE3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64740-6153-4913-9360-AF68DF250F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217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FAB8498-C6DD-4580-B6A2-4B42A8579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959BE-E185-4530-A500-1D40455D2F6F}" type="datetimeFigureOut">
              <a:rPr lang="fr-FR" smtClean="0"/>
              <a:t>31/05/2023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6CBD985-A0E6-CFCB-26C8-CF10E5AFE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FC99FEC-D5CE-F073-9700-0B7B864AB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64740-6153-4913-9360-AF68DF250F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1254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C84C59-F567-6308-ACFD-13983EBCB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E4FE24-5064-93E7-7450-04D9F174B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511D366-2CAD-C6A6-DB23-E97B61427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8032906-712D-4D07-8729-C0FF7C13B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959BE-E185-4530-A500-1D40455D2F6F}" type="datetimeFigureOut">
              <a:rPr lang="fr-FR" smtClean="0"/>
              <a:t>31/05/2023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2ABAD7C-D986-3F98-7B1C-2B642CA0F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E086D6F-AA9A-08F9-DA7D-A0FE27E2E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64740-6153-4913-9360-AF68DF250F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2966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6185BD-9064-1336-1C6E-DB1C3E116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BB40C81-65E4-DB9A-7B32-A5D1EC48C4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6D00DFF-2BCB-2AE6-6D9D-7E358E535C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0C7B43C-8CA2-E4ED-6F2E-EDDE4255C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959BE-E185-4530-A500-1D40455D2F6F}" type="datetimeFigureOut">
              <a:rPr lang="fr-FR" smtClean="0"/>
              <a:t>31/05/2023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AC9BEB5-0ABB-5621-48CC-9BE8EAD43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7E2F859-CCD3-E909-12A9-D1E38AF54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64740-6153-4913-9360-AF68DF250F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667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8669C7-C1BF-5499-99FF-9DD404648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56B8C54-A965-D860-F67D-6A3655F81B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89C04DD-0821-8D0A-57BE-4FF634815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959BE-E185-4530-A500-1D40455D2F6F}" type="datetimeFigureOut">
              <a:rPr lang="fr-FR" smtClean="0"/>
              <a:t>31/05/2023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0C4BA36-62D3-4389-9735-9EF5BD0D2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2EED614-7230-0C97-A266-9F584CCA5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64740-6153-4913-9360-AF68DF250F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7469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C7D3912-717E-D81C-0949-744730E059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01FE934-BFF2-5B0B-4E90-AB48815F15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DAD5D01-0AED-73E3-62C6-2D752F4E4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959BE-E185-4530-A500-1D40455D2F6F}" type="datetimeFigureOut">
              <a:rPr lang="fr-FR" smtClean="0"/>
              <a:t>31/05/2023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9E8AE67-32EF-F495-BBF9-62078A706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F5C6B5-1D58-F187-36D8-4FFB14C99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64740-6153-4913-9360-AF68DF250F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604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938E5E8-73FF-8C2E-C8D4-E8A89D58A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DD05DE3-A39D-995E-1BA2-C88AAFF34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16A6445-259A-05E2-BE53-FCDA0A5A64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F959BE-E185-4530-A500-1D40455D2F6F}" type="datetimeFigureOut">
              <a:rPr lang="fr-FR" smtClean="0"/>
              <a:t>31/05/2023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136C14F-0870-ECD3-FAE4-FCFDA1CCC7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0B1ACBD-DF06-CDEF-EE32-36D8CF12FE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B64740-6153-4913-9360-AF68DF250F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6612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18" Type="http://schemas.openxmlformats.org/officeDocument/2006/relationships/image" Target="../media/image14.png"/><Relationship Id="rId3" Type="http://schemas.openxmlformats.org/officeDocument/2006/relationships/image" Target="../media/image16.png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17" Type="http://schemas.openxmlformats.org/officeDocument/2006/relationships/image" Target="../media/image13.png"/><Relationship Id="rId2" Type="http://schemas.openxmlformats.org/officeDocument/2006/relationships/image" Target="../media/image15.png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7.png"/><Relationship Id="rId5" Type="http://schemas.openxmlformats.org/officeDocument/2006/relationships/image" Target="../media/image18.png"/><Relationship Id="rId15" Type="http://schemas.openxmlformats.org/officeDocument/2006/relationships/image" Target="../media/image11.png"/><Relationship Id="rId10" Type="http://schemas.openxmlformats.org/officeDocument/2006/relationships/image" Target="../media/image6.png"/><Relationship Id="rId4" Type="http://schemas.openxmlformats.org/officeDocument/2006/relationships/image" Target="../media/image17.png"/><Relationship Id="rId9" Type="http://schemas.openxmlformats.org/officeDocument/2006/relationships/image" Target="../media/image5.png"/><Relationship Id="rId1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7.png"/><Relationship Id="rId18" Type="http://schemas.openxmlformats.org/officeDocument/2006/relationships/image" Target="../media/image12.png"/><Relationship Id="rId3" Type="http://schemas.openxmlformats.org/officeDocument/2006/relationships/image" Target="../media/image21.png"/><Relationship Id="rId7" Type="http://schemas.openxmlformats.org/officeDocument/2006/relationships/image" Target="../media/image17.png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" Type="http://schemas.openxmlformats.org/officeDocument/2006/relationships/image" Target="../media/image20.png"/><Relationship Id="rId16" Type="http://schemas.openxmlformats.org/officeDocument/2006/relationships/image" Target="../media/image10.png"/><Relationship Id="rId20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5.png"/><Relationship Id="rId5" Type="http://schemas.openxmlformats.org/officeDocument/2006/relationships/image" Target="../media/image23.png"/><Relationship Id="rId15" Type="http://schemas.openxmlformats.org/officeDocument/2006/relationships/image" Target="../media/image9.png"/><Relationship Id="rId10" Type="http://schemas.openxmlformats.org/officeDocument/2006/relationships/image" Target="../media/image24.png"/><Relationship Id="rId19" Type="http://schemas.openxmlformats.org/officeDocument/2006/relationships/image" Target="../media/image13.png"/><Relationship Id="rId4" Type="http://schemas.openxmlformats.org/officeDocument/2006/relationships/image" Target="../media/image22.png"/><Relationship Id="rId9" Type="http://schemas.openxmlformats.org/officeDocument/2006/relationships/image" Target="../media/image19.png"/><Relationship Id="rId1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7.png"/><Relationship Id="rId3" Type="http://schemas.openxmlformats.org/officeDocument/2006/relationships/image" Target="../media/image20.png"/><Relationship Id="rId7" Type="http://schemas.openxmlformats.org/officeDocument/2006/relationships/image" Target="../media/image15.png"/><Relationship Id="rId12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19.png"/><Relationship Id="rId5" Type="http://schemas.openxmlformats.org/officeDocument/2006/relationships/image" Target="../media/image22.png"/><Relationship Id="rId15" Type="http://schemas.openxmlformats.org/officeDocument/2006/relationships/image" Target="../media/image29.png"/><Relationship Id="rId10" Type="http://schemas.openxmlformats.org/officeDocument/2006/relationships/image" Target="../media/image18.png"/><Relationship Id="rId4" Type="http://schemas.openxmlformats.org/officeDocument/2006/relationships/image" Target="../media/image21.png"/><Relationship Id="rId9" Type="http://schemas.openxmlformats.org/officeDocument/2006/relationships/image" Target="../media/image17.png"/><Relationship Id="rId1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3.png"/><Relationship Id="rId3" Type="http://schemas.openxmlformats.org/officeDocument/2006/relationships/image" Target="../media/image21.png"/><Relationship Id="rId7" Type="http://schemas.openxmlformats.org/officeDocument/2006/relationships/image" Target="../media/image28.png"/><Relationship Id="rId12" Type="http://schemas.openxmlformats.org/officeDocument/2006/relationships/image" Target="../media/image3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1.png"/><Relationship Id="rId5" Type="http://schemas.openxmlformats.org/officeDocument/2006/relationships/image" Target="../media/image23.png"/><Relationship Id="rId1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2.png"/><Relationship Id="rId9" Type="http://schemas.openxmlformats.org/officeDocument/2006/relationships/image" Target="../media/image26.png"/><Relationship Id="rId1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image" Target="../media/image26.png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18" Type="http://schemas.openxmlformats.org/officeDocument/2006/relationships/image" Target="../media/image41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0.png"/><Relationship Id="rId2" Type="http://schemas.openxmlformats.org/officeDocument/2006/relationships/image" Target="../media/image26.png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42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2.png"/><Relationship Id="rId18" Type="http://schemas.openxmlformats.org/officeDocument/2006/relationships/image" Target="../media/image4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4.png"/><Relationship Id="rId17" Type="http://schemas.openxmlformats.org/officeDocument/2006/relationships/image" Target="../media/image45.png"/><Relationship Id="rId2" Type="http://schemas.openxmlformats.org/officeDocument/2006/relationships/image" Target="../media/image30.png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43.png"/><Relationship Id="rId5" Type="http://schemas.openxmlformats.org/officeDocument/2006/relationships/image" Target="../media/image33.png"/><Relationship Id="rId15" Type="http://schemas.openxmlformats.org/officeDocument/2006/relationships/image" Target="../media/image40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51.png"/><Relationship Id="rId3" Type="http://schemas.openxmlformats.org/officeDocument/2006/relationships/image" Target="../media/image36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1" Type="http://schemas.openxmlformats.org/officeDocument/2006/relationships/image" Target="../media/image49.png"/><Relationship Id="rId5" Type="http://schemas.openxmlformats.org/officeDocument/2006/relationships/image" Target="../media/image38.png"/><Relationship Id="rId15" Type="http://schemas.openxmlformats.org/officeDocument/2006/relationships/image" Target="../media/image46.png"/><Relationship Id="rId10" Type="http://schemas.openxmlformats.org/officeDocument/2006/relationships/image" Target="../media/image48.png"/><Relationship Id="rId4" Type="http://schemas.openxmlformats.org/officeDocument/2006/relationships/image" Target="../media/image37.png"/><Relationship Id="rId9" Type="http://schemas.openxmlformats.org/officeDocument/2006/relationships/image" Target="../media/image47.png"/><Relationship Id="rId1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5.png"/><Relationship Id="rId3" Type="http://schemas.openxmlformats.org/officeDocument/2006/relationships/image" Target="../media/image43.png"/><Relationship Id="rId7" Type="http://schemas.openxmlformats.org/officeDocument/2006/relationships/image" Target="../media/image50.png"/><Relationship Id="rId12" Type="http://schemas.openxmlformats.org/officeDocument/2006/relationships/image" Target="../media/image54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11" Type="http://schemas.openxmlformats.org/officeDocument/2006/relationships/image" Target="../media/image53.png"/><Relationship Id="rId5" Type="http://schemas.openxmlformats.org/officeDocument/2006/relationships/image" Target="../media/image48.png"/><Relationship Id="rId15" Type="http://schemas.openxmlformats.org/officeDocument/2006/relationships/image" Target="../media/image57.png"/><Relationship Id="rId10" Type="http://schemas.openxmlformats.org/officeDocument/2006/relationships/image" Target="../media/image46.png"/><Relationship Id="rId4" Type="http://schemas.openxmlformats.org/officeDocument/2006/relationships/image" Target="../media/image44.png"/><Relationship Id="rId9" Type="http://schemas.openxmlformats.org/officeDocument/2006/relationships/image" Target="../media/image45.png"/><Relationship Id="rId14" Type="http://schemas.openxmlformats.org/officeDocument/2006/relationships/image" Target="../media/image5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54.png"/><Relationship Id="rId7" Type="http://schemas.openxmlformats.org/officeDocument/2006/relationships/image" Target="../media/image49.png"/><Relationship Id="rId12" Type="http://schemas.openxmlformats.org/officeDocument/2006/relationships/image" Target="../media/image57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11" Type="http://schemas.openxmlformats.org/officeDocument/2006/relationships/image" Target="../media/image56.png"/><Relationship Id="rId5" Type="http://schemas.openxmlformats.org/officeDocument/2006/relationships/image" Target="../media/image47.png"/><Relationship Id="rId10" Type="http://schemas.openxmlformats.org/officeDocument/2006/relationships/image" Target="../media/image55.png"/><Relationship Id="rId4" Type="http://schemas.openxmlformats.org/officeDocument/2006/relationships/image" Target="../media/image58.png"/><Relationship Id="rId9" Type="http://schemas.openxmlformats.org/officeDocument/2006/relationships/image" Target="../media/image5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8CF50E-5231-64E2-D847-BA718B7B54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>
            <a:normAutofit/>
          </a:bodyPr>
          <a:lstStyle/>
          <a:p>
            <a:r>
              <a:rPr lang="fr-FR" sz="9600" dirty="0">
                <a:solidFill>
                  <a:srgbClr val="FF6B00"/>
                </a:solidFill>
                <a:latin typeface="Harlow Solid Italic" panose="04030604020F02020D02" pitchFamily="82" charset="0"/>
              </a:rPr>
              <a:t>Super </a:t>
            </a:r>
            <a:r>
              <a:rPr lang="fr-FR" sz="9600" dirty="0" err="1">
                <a:solidFill>
                  <a:srgbClr val="FF6B00"/>
                </a:solidFill>
                <a:latin typeface="Harlow Solid Italic" panose="04030604020F02020D02" pitchFamily="82" charset="0"/>
              </a:rPr>
              <a:t>Capy</a:t>
            </a:r>
            <a:r>
              <a:rPr lang="fr-FR" sz="9600" dirty="0">
                <a:solidFill>
                  <a:srgbClr val="FF6B00"/>
                </a:solidFill>
                <a:latin typeface="Harlow Solid Italic" panose="04030604020F02020D02" pitchFamily="82" charset="0"/>
              </a:rPr>
              <a:t> Bros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71C2339-CFDE-8E7F-E1A2-14457C025807}"/>
              </a:ext>
            </a:extLst>
          </p:cNvPr>
          <p:cNvSpPr txBox="1"/>
          <p:nvPr/>
        </p:nvSpPr>
        <p:spPr>
          <a:xfrm>
            <a:off x="3407228" y="-2998777"/>
            <a:ext cx="53775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Harlow Solid Italic" panose="04030604020F02020D02" pitchFamily="82" charset="0"/>
              </a:rPr>
              <a:t>Présentation du Projet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D0A7D0E-7EB8-751C-4BCB-C4D8E44EC4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3314"/>
          <a:stretch/>
        </p:blipFill>
        <p:spPr>
          <a:xfrm rot="2581163">
            <a:off x="-4917930" y="1362882"/>
            <a:ext cx="1860095" cy="4885161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619B7282-23E0-B960-64B8-F8BA7C9A7035}"/>
              </a:ext>
            </a:extLst>
          </p:cNvPr>
          <p:cNvSpPr txBox="1"/>
          <p:nvPr/>
        </p:nvSpPr>
        <p:spPr>
          <a:xfrm>
            <a:off x="12842421" y="2212294"/>
            <a:ext cx="28312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>
                <a:latin typeface="Harlow Solid Italic" panose="04030604020F02020D02" pitchFamily="82" charset="0"/>
              </a:rPr>
              <a:t>- 47 fichiers python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417370E-8C8B-F41D-C5B0-E4A53257F14C}"/>
              </a:ext>
            </a:extLst>
          </p:cNvPr>
          <p:cNvSpPr txBox="1"/>
          <p:nvPr/>
        </p:nvSpPr>
        <p:spPr>
          <a:xfrm>
            <a:off x="13631631" y="2776118"/>
            <a:ext cx="20954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>
                <a:latin typeface="Harlow Solid Italic" panose="04030604020F02020D02" pitchFamily="82" charset="0"/>
              </a:rPr>
              <a:t>- ⁓ 60 images 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A7DC4E4-89AD-1D49-6985-04B560CDC114}"/>
              </a:ext>
            </a:extLst>
          </p:cNvPr>
          <p:cNvSpPr txBox="1"/>
          <p:nvPr/>
        </p:nvSpPr>
        <p:spPr>
          <a:xfrm>
            <a:off x="14535141" y="3339942"/>
            <a:ext cx="3188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>
                <a:latin typeface="Harlow Solid Italic" panose="04030604020F02020D02" pitchFamily="82" charset="0"/>
              </a:rPr>
              <a:t>- ⁓1800 lignes de code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2579953-D128-09F3-6164-FA707149C099}"/>
              </a:ext>
            </a:extLst>
          </p:cNvPr>
          <p:cNvSpPr txBox="1"/>
          <p:nvPr/>
        </p:nvSpPr>
        <p:spPr>
          <a:xfrm>
            <a:off x="15305301" y="3903766"/>
            <a:ext cx="33233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>
                <a:latin typeface="Harlow Solid Italic" panose="04030604020F02020D02" pitchFamily="82" charset="0"/>
              </a:rPr>
              <a:t>- Un jeu de plateforme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943A049-57AC-6456-23F8-2CB85A0DF40A}"/>
              </a:ext>
            </a:extLst>
          </p:cNvPr>
          <p:cNvSpPr txBox="1"/>
          <p:nvPr/>
        </p:nvSpPr>
        <p:spPr>
          <a:xfrm>
            <a:off x="16075461" y="4467590"/>
            <a:ext cx="15183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>
                <a:latin typeface="Harlow Solid Italic" panose="04030604020F02020D02" pitchFamily="82" charset="0"/>
              </a:rPr>
              <a:t>- </a:t>
            </a:r>
            <a:r>
              <a:rPr lang="fr-FR" sz="2800" dirty="0" err="1">
                <a:latin typeface="Harlow Solid Italic" panose="04030604020F02020D02" pitchFamily="82" charset="0"/>
              </a:rPr>
              <a:t>Pygame</a:t>
            </a:r>
            <a:endParaRPr lang="fr-FR" sz="2800" dirty="0">
              <a:latin typeface="Harlow Solid Italic" panose="04030604020F02020D02" pitchFamily="82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3FAAFAF-46C5-8E76-A4BA-7AF4EFD22FE1}"/>
              </a:ext>
            </a:extLst>
          </p:cNvPr>
          <p:cNvSpPr txBox="1"/>
          <p:nvPr/>
        </p:nvSpPr>
        <p:spPr>
          <a:xfrm>
            <a:off x="10151057" y="6499681"/>
            <a:ext cx="2040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Théotim</a:t>
            </a:r>
            <a:r>
              <a:rPr lang="fr-FR" sz="1400" dirty="0">
                <a:latin typeface="Harlow Solid Italic" panose="04030604020F02020D02" pitchFamily="82" charset="0"/>
              </a:rPr>
              <a:t> </a:t>
            </a:r>
            <a:r>
              <a:rPr lang="fr-FR" sz="900" dirty="0">
                <a:latin typeface="Harlow Solid Italic" panose="04030604020F02020D02" pitchFamily="82" charset="0"/>
              </a:rPr>
              <a:t>– Antoine – Rafael </a:t>
            </a:r>
            <a:endParaRPr lang="fr-FR" sz="1400" dirty="0">
              <a:latin typeface="Harlow Solid Italic" panose="04030604020F02020D02" pitchFamily="82" charset="0"/>
            </a:endParaRPr>
          </a:p>
        </p:txBody>
      </p:sp>
      <p:pic>
        <p:nvPicPr>
          <p:cNvPr id="11" name="Image 10" descr="Une image contenant halloween, dessin humoristique, citrouille&#10;&#10;Description générée automatiquement">
            <a:extLst>
              <a:ext uri="{FF2B5EF4-FFF2-40B4-BE49-F238E27FC236}">
                <a16:creationId xmlns:a16="http://schemas.microsoft.com/office/drawing/2014/main" id="{18031EC5-5CBB-BAFF-5B3D-07492E0554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6161" y="4177079"/>
            <a:ext cx="5019675" cy="204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064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8CF50E-5231-64E2-D847-BA718B7B54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4104711"/>
            <a:ext cx="9144000" cy="2387600"/>
          </a:xfrm>
        </p:spPr>
        <p:txBody>
          <a:bodyPr>
            <a:normAutofit/>
          </a:bodyPr>
          <a:lstStyle/>
          <a:p>
            <a:r>
              <a:rPr lang="fr-FR" sz="9600" dirty="0">
                <a:solidFill>
                  <a:srgbClr val="FF6B00"/>
                </a:solidFill>
                <a:latin typeface="Harlow Solid Italic" panose="04030604020F02020D02" pitchFamily="82" charset="0"/>
              </a:rPr>
              <a:t>Super </a:t>
            </a:r>
            <a:r>
              <a:rPr lang="fr-FR" sz="9600" dirty="0" err="1">
                <a:solidFill>
                  <a:srgbClr val="FF6B00"/>
                </a:solidFill>
                <a:latin typeface="Harlow Solid Italic" panose="04030604020F02020D02" pitchFamily="82" charset="0"/>
              </a:rPr>
              <a:t>Capy</a:t>
            </a:r>
            <a:r>
              <a:rPr lang="fr-FR" sz="9600" dirty="0">
                <a:solidFill>
                  <a:srgbClr val="FF6B00"/>
                </a:solidFill>
                <a:latin typeface="Harlow Solid Italic" panose="04030604020F02020D02" pitchFamily="82" charset="0"/>
              </a:rPr>
              <a:t> Bros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3BFF2E6-EB88-6DBB-C43C-5B4F72F3CFB3}"/>
              </a:ext>
            </a:extLst>
          </p:cNvPr>
          <p:cNvSpPr txBox="1"/>
          <p:nvPr/>
        </p:nvSpPr>
        <p:spPr>
          <a:xfrm>
            <a:off x="3407228" y="341348"/>
            <a:ext cx="53775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Harlow Solid Italic" panose="04030604020F02020D02" pitchFamily="82" charset="0"/>
              </a:rPr>
              <a:t>Présentation du Projet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1FA530A-EF5D-E5D5-7C2A-18795064C9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3314"/>
          <a:stretch/>
        </p:blipFill>
        <p:spPr>
          <a:xfrm>
            <a:off x="273504" y="1443845"/>
            <a:ext cx="1860095" cy="4885161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13D66C59-6E04-68BB-94F5-8F12252C58D6}"/>
              </a:ext>
            </a:extLst>
          </p:cNvPr>
          <p:cNvSpPr txBox="1"/>
          <p:nvPr/>
        </p:nvSpPr>
        <p:spPr>
          <a:xfrm>
            <a:off x="3526971" y="2293257"/>
            <a:ext cx="28312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>
                <a:latin typeface="Harlow Solid Italic" panose="04030604020F02020D02" pitchFamily="82" charset="0"/>
              </a:rPr>
              <a:t>- 47 fichiers python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C004883-F3A4-A596-6BBE-36708B5B1423}"/>
              </a:ext>
            </a:extLst>
          </p:cNvPr>
          <p:cNvSpPr txBox="1"/>
          <p:nvPr/>
        </p:nvSpPr>
        <p:spPr>
          <a:xfrm>
            <a:off x="3744681" y="2857081"/>
            <a:ext cx="20954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>
                <a:latin typeface="Harlow Solid Italic" panose="04030604020F02020D02" pitchFamily="82" charset="0"/>
              </a:rPr>
              <a:t>- ⁓ 60 images 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4DC3154-E93C-D137-A563-6CB924F60D10}"/>
              </a:ext>
            </a:extLst>
          </p:cNvPr>
          <p:cNvSpPr txBox="1"/>
          <p:nvPr/>
        </p:nvSpPr>
        <p:spPr>
          <a:xfrm>
            <a:off x="3962391" y="3420905"/>
            <a:ext cx="3188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>
                <a:latin typeface="Harlow Solid Italic" panose="04030604020F02020D02" pitchFamily="82" charset="0"/>
              </a:rPr>
              <a:t>- ⁓1800 lignes de code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329C023-0B71-B141-3D27-15D493E4D75E}"/>
              </a:ext>
            </a:extLst>
          </p:cNvPr>
          <p:cNvSpPr txBox="1"/>
          <p:nvPr/>
        </p:nvSpPr>
        <p:spPr>
          <a:xfrm>
            <a:off x="4180101" y="3984729"/>
            <a:ext cx="33233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>
                <a:latin typeface="Harlow Solid Italic" panose="04030604020F02020D02" pitchFamily="82" charset="0"/>
              </a:rPr>
              <a:t>- Un jeu de plateforme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DE1FC25-35CD-2C58-28B0-ECF0E7862CCC}"/>
              </a:ext>
            </a:extLst>
          </p:cNvPr>
          <p:cNvSpPr txBox="1"/>
          <p:nvPr/>
        </p:nvSpPr>
        <p:spPr>
          <a:xfrm>
            <a:off x="4397811" y="4548553"/>
            <a:ext cx="15183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>
                <a:latin typeface="Harlow Solid Italic" panose="04030604020F02020D02" pitchFamily="82" charset="0"/>
              </a:rPr>
              <a:t>- </a:t>
            </a:r>
            <a:r>
              <a:rPr lang="fr-FR" sz="2800" dirty="0" err="1">
                <a:latin typeface="Harlow Solid Italic" panose="04030604020F02020D02" pitchFamily="82" charset="0"/>
              </a:rPr>
              <a:t>Pygame</a:t>
            </a:r>
            <a:endParaRPr lang="fr-FR" sz="2800" dirty="0">
              <a:latin typeface="Harlow Solid Italic" panose="04030604020F02020D02" pitchFamily="82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179D196-F832-D388-CAC6-B8825EA0E942}"/>
              </a:ext>
            </a:extLst>
          </p:cNvPr>
          <p:cNvSpPr txBox="1"/>
          <p:nvPr/>
        </p:nvSpPr>
        <p:spPr>
          <a:xfrm>
            <a:off x="2980870" y="-2563851"/>
            <a:ext cx="62302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Harlow Solid Italic" panose="04030604020F02020D02" pitchFamily="82" charset="0"/>
              </a:rPr>
              <a:t>Première fenêtre et joueur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5B2143D0-05AF-F9EC-16AD-8413D6E0E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083745" y="1395371"/>
            <a:ext cx="5487166" cy="1343212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632B88D5-E46A-BE07-7343-A4C2BDFD99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069229" y="3071977"/>
            <a:ext cx="3134162" cy="114316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BBD91578-012F-3261-D6CE-DCB26CCF5B4E}"/>
              </a:ext>
            </a:extLst>
          </p:cNvPr>
          <p:cNvSpPr/>
          <p:nvPr/>
        </p:nvSpPr>
        <p:spPr>
          <a:xfrm>
            <a:off x="14018988" y="2984892"/>
            <a:ext cx="5747657" cy="366238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0E9CA54C-6D19-6EBC-7079-6EAFCFC267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12324" y="3162631"/>
            <a:ext cx="4216665" cy="1481944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B8BDB5E3-5A4D-DA33-D346-798ABDF780AC}"/>
              </a:ext>
            </a:extLst>
          </p:cNvPr>
          <p:cNvSpPr txBox="1"/>
          <p:nvPr/>
        </p:nvSpPr>
        <p:spPr>
          <a:xfrm>
            <a:off x="14659061" y="4838685"/>
            <a:ext cx="37359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Création d’une classe Player qui contiendra tous les attributs du joueur et qui sera un </a:t>
            </a:r>
            <a:r>
              <a:rPr lang="fr-FR" sz="2000" dirty="0" err="1">
                <a:latin typeface="Harlow Solid Italic" panose="04030604020F02020D02" pitchFamily="82" charset="0"/>
              </a:rPr>
              <a:t>sprite</a:t>
            </a:r>
            <a:r>
              <a:rPr lang="fr-FR" sz="2000" dirty="0">
                <a:latin typeface="Harlow Solid Italic" panose="04030604020F02020D02" pitchFamily="82" charset="0"/>
              </a:rPr>
              <a:t>.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EA3C3167-1386-BAAC-DB7F-E82B21C388CB}"/>
              </a:ext>
            </a:extLst>
          </p:cNvPr>
          <p:cNvSpPr txBox="1"/>
          <p:nvPr/>
        </p:nvSpPr>
        <p:spPr>
          <a:xfrm>
            <a:off x="-3804438" y="3240460"/>
            <a:ext cx="26254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Création de la fenêtre de jeu et boucle pour actualiser cette fenêtre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143C20F-5E24-A9B1-75CB-34EFBD8267E0}"/>
              </a:ext>
            </a:extLst>
          </p:cNvPr>
          <p:cNvSpPr/>
          <p:nvPr/>
        </p:nvSpPr>
        <p:spPr>
          <a:xfrm>
            <a:off x="-7320641" y="1096275"/>
            <a:ext cx="6230258" cy="3975498"/>
          </a:xfrm>
          <a:prstGeom prst="rect">
            <a:avLst/>
          </a:prstGeom>
          <a:noFill/>
          <a:ln w="2857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633DA19-BFB5-EE60-35AC-834873B8FEF8}"/>
              </a:ext>
            </a:extLst>
          </p:cNvPr>
          <p:cNvSpPr txBox="1"/>
          <p:nvPr/>
        </p:nvSpPr>
        <p:spPr>
          <a:xfrm>
            <a:off x="10151057" y="9199339"/>
            <a:ext cx="2040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Théotim</a:t>
            </a:r>
            <a:r>
              <a:rPr lang="fr-FR" sz="1400" dirty="0">
                <a:latin typeface="Harlow Solid Italic" panose="04030604020F02020D02" pitchFamily="82" charset="0"/>
              </a:rPr>
              <a:t> </a:t>
            </a:r>
            <a:r>
              <a:rPr lang="fr-FR" sz="900" dirty="0">
                <a:latin typeface="Harlow Solid Italic" panose="04030604020F02020D02" pitchFamily="82" charset="0"/>
              </a:rPr>
              <a:t>– Antoine – Rafael </a:t>
            </a:r>
            <a:endParaRPr lang="fr-FR" sz="1400" dirty="0">
              <a:latin typeface="Harlow Solid Italic" panose="04030604020F02020D02" pitchFamily="82" charset="0"/>
            </a:endParaRPr>
          </a:p>
        </p:txBody>
      </p:sp>
      <p:pic>
        <p:nvPicPr>
          <p:cNvPr id="16" name="Image 15" descr="Une image contenant halloween, dessin humoristique, citrouille&#10;&#10;Description générée automatiquement">
            <a:extLst>
              <a:ext uri="{FF2B5EF4-FFF2-40B4-BE49-F238E27FC236}">
                <a16:creationId xmlns:a16="http://schemas.microsoft.com/office/drawing/2014/main" id="{24FBCD96-CAF1-1A6C-DE47-932256D3EB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6161" y="7885479"/>
            <a:ext cx="5019675" cy="204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141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ZoneTexte 14">
            <a:extLst>
              <a:ext uri="{FF2B5EF4-FFF2-40B4-BE49-F238E27FC236}">
                <a16:creationId xmlns:a16="http://schemas.microsoft.com/office/drawing/2014/main" id="{65B36143-F46A-6E54-D5E0-F79CC99DC8EB}"/>
              </a:ext>
            </a:extLst>
          </p:cNvPr>
          <p:cNvSpPr txBox="1"/>
          <p:nvPr/>
        </p:nvSpPr>
        <p:spPr>
          <a:xfrm>
            <a:off x="15730754" y="2293257"/>
            <a:ext cx="28312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>
                <a:latin typeface="Harlow Solid Italic" panose="04030604020F02020D02" pitchFamily="82" charset="0"/>
              </a:rPr>
              <a:t>- 47 fichiers python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E618CE5-E2F7-D5DE-C84A-21FE281BBED9}"/>
              </a:ext>
            </a:extLst>
          </p:cNvPr>
          <p:cNvSpPr txBox="1"/>
          <p:nvPr/>
        </p:nvSpPr>
        <p:spPr>
          <a:xfrm>
            <a:off x="14535141" y="3420905"/>
            <a:ext cx="3188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>
                <a:latin typeface="Harlow Solid Italic" panose="04030604020F02020D02" pitchFamily="82" charset="0"/>
              </a:rPr>
              <a:t>- ⁓1800 lignes de code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25FB9946-3429-0167-DF95-259E96E95E57}"/>
              </a:ext>
            </a:extLst>
          </p:cNvPr>
          <p:cNvSpPr txBox="1"/>
          <p:nvPr/>
        </p:nvSpPr>
        <p:spPr>
          <a:xfrm>
            <a:off x="13665191" y="3984729"/>
            <a:ext cx="33233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>
                <a:latin typeface="Harlow Solid Italic" panose="04030604020F02020D02" pitchFamily="82" charset="0"/>
              </a:rPr>
              <a:t>- Un jeu de plateforme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D28ED968-E7F3-AEFA-118D-5D06E8C5544C}"/>
              </a:ext>
            </a:extLst>
          </p:cNvPr>
          <p:cNvSpPr txBox="1"/>
          <p:nvPr/>
        </p:nvSpPr>
        <p:spPr>
          <a:xfrm>
            <a:off x="12867806" y="4548553"/>
            <a:ext cx="15183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>
                <a:latin typeface="Harlow Solid Italic" panose="04030604020F02020D02" pitchFamily="82" charset="0"/>
              </a:rPr>
              <a:t>- </a:t>
            </a:r>
            <a:r>
              <a:rPr lang="fr-FR" sz="2800" dirty="0" err="1">
                <a:latin typeface="Harlow Solid Italic" panose="04030604020F02020D02" pitchFamily="82" charset="0"/>
              </a:rPr>
              <a:t>Pygame</a:t>
            </a:r>
            <a:endParaRPr lang="fr-FR" sz="2800" dirty="0">
              <a:latin typeface="Harlow Solid Italic" panose="04030604020F02020D02" pitchFamily="82" charset="0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8278EE92-B79D-E54A-0530-BE01AE66DD2B}"/>
              </a:ext>
            </a:extLst>
          </p:cNvPr>
          <p:cNvSpPr txBox="1"/>
          <p:nvPr/>
        </p:nvSpPr>
        <p:spPr>
          <a:xfrm>
            <a:off x="3407228" y="-2917814"/>
            <a:ext cx="53775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Harlow Solid Italic" panose="04030604020F02020D02" pitchFamily="82" charset="0"/>
              </a:rPr>
              <a:t>Présentation du Projet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6267BDC0-A5B8-138C-6613-663DC36DE3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3314"/>
          <a:stretch/>
        </p:blipFill>
        <p:spPr>
          <a:xfrm rot="19292182">
            <a:off x="-4917930" y="1443845"/>
            <a:ext cx="1860095" cy="4885161"/>
          </a:xfrm>
          <a:prstGeom prst="rect">
            <a:avLst/>
          </a:prstGeom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7C3B2B43-CA75-A970-5D1D-53311731588A}"/>
              </a:ext>
            </a:extLst>
          </p:cNvPr>
          <p:cNvSpPr txBox="1"/>
          <p:nvPr/>
        </p:nvSpPr>
        <p:spPr>
          <a:xfrm>
            <a:off x="2980870" y="326834"/>
            <a:ext cx="62302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Harlow Solid Italic" panose="04030604020F02020D02" pitchFamily="82" charset="0"/>
              </a:rPr>
              <a:t>Première fenêtre et joueur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9595DED9-8FBB-2D24-9EBE-57D0D016F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632" y="1395371"/>
            <a:ext cx="5487166" cy="1343212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13D61C3F-38BB-E452-4BE6-F23CBAB13D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148" y="3071977"/>
            <a:ext cx="3134162" cy="114316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07B4BA48-C3B6-A0BB-75BF-94F42C502C7C}"/>
              </a:ext>
            </a:extLst>
          </p:cNvPr>
          <p:cNvSpPr/>
          <p:nvPr/>
        </p:nvSpPr>
        <p:spPr>
          <a:xfrm>
            <a:off x="261259" y="1096275"/>
            <a:ext cx="6230258" cy="3975498"/>
          </a:xfrm>
          <a:prstGeom prst="rect">
            <a:avLst/>
          </a:prstGeom>
          <a:noFill/>
          <a:ln w="2857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807C54C-CF6F-8CBB-9DB3-E6B656A327DF}"/>
              </a:ext>
            </a:extLst>
          </p:cNvPr>
          <p:cNvSpPr/>
          <p:nvPr/>
        </p:nvSpPr>
        <p:spPr>
          <a:xfrm>
            <a:off x="6284688" y="2984892"/>
            <a:ext cx="5747657" cy="366238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4E9F1EC4-DCEF-4049-1404-5EFF2BA833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0424" y="3162631"/>
            <a:ext cx="4216665" cy="1481944"/>
          </a:xfrm>
          <a:prstGeom prst="rect">
            <a:avLst/>
          </a:prstGeom>
        </p:spPr>
      </p:pic>
      <p:sp>
        <p:nvSpPr>
          <p:cNvPr id="30" name="ZoneTexte 29">
            <a:extLst>
              <a:ext uri="{FF2B5EF4-FFF2-40B4-BE49-F238E27FC236}">
                <a16:creationId xmlns:a16="http://schemas.microsoft.com/office/drawing/2014/main" id="{F0506C1B-757A-73EF-E400-277713B21E3C}"/>
              </a:ext>
            </a:extLst>
          </p:cNvPr>
          <p:cNvSpPr txBox="1"/>
          <p:nvPr/>
        </p:nvSpPr>
        <p:spPr>
          <a:xfrm>
            <a:off x="7077161" y="4838685"/>
            <a:ext cx="37359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Création d’une classe Player qui contiendra tous les attributs du joueur et qui sera un </a:t>
            </a:r>
            <a:r>
              <a:rPr lang="fr-FR" sz="2000" dirty="0" err="1">
                <a:latin typeface="Harlow Solid Italic" panose="04030604020F02020D02" pitchFamily="82" charset="0"/>
              </a:rPr>
              <a:t>sprite</a:t>
            </a:r>
            <a:r>
              <a:rPr lang="fr-FR" sz="2000" dirty="0">
                <a:latin typeface="Harlow Solid Italic" panose="04030604020F02020D02" pitchFamily="82" charset="0"/>
              </a:rPr>
              <a:t>.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6D7B12F9-66FA-C232-B39D-7617C2881C8D}"/>
              </a:ext>
            </a:extLst>
          </p:cNvPr>
          <p:cNvSpPr txBox="1"/>
          <p:nvPr/>
        </p:nvSpPr>
        <p:spPr>
          <a:xfrm>
            <a:off x="3684939" y="3240460"/>
            <a:ext cx="26254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Création de la fenêtre de jeu et boucle pour actualiser cette fenêtre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C813AF8D-8DBC-40EB-6CF0-E18201256A47}"/>
              </a:ext>
            </a:extLst>
          </p:cNvPr>
          <p:cNvSpPr txBox="1"/>
          <p:nvPr/>
        </p:nvSpPr>
        <p:spPr>
          <a:xfrm>
            <a:off x="15127056" y="2852318"/>
            <a:ext cx="20954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>
                <a:latin typeface="Harlow Solid Italic" panose="04030604020F02020D02" pitchFamily="82" charset="0"/>
              </a:rPr>
              <a:t>- ⁓ 60 images 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23C5256-D396-FF00-8156-8284DBA830F7}"/>
              </a:ext>
            </a:extLst>
          </p:cNvPr>
          <p:cNvSpPr txBox="1"/>
          <p:nvPr/>
        </p:nvSpPr>
        <p:spPr>
          <a:xfrm>
            <a:off x="3352417" y="-3686796"/>
            <a:ext cx="54871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Harlow Solid Italic" panose="04030604020F02020D02" pitchFamily="82" charset="0"/>
              </a:rPr>
              <a:t>Déplacements du joueur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3103BE6-2682-C088-36A8-7FD7837A7A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801313" y="1133638"/>
            <a:ext cx="3313284" cy="1290717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1E264887-898A-173C-9738-2C8EA738BFC3}"/>
              </a:ext>
            </a:extLst>
          </p:cNvPr>
          <p:cNvSpPr txBox="1"/>
          <p:nvPr/>
        </p:nvSpPr>
        <p:spPr>
          <a:xfrm>
            <a:off x="-6786080" y="1066964"/>
            <a:ext cx="20327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2 fonctions pour se déplacer à droite et à gauche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3C454CC-E333-3D2F-22F8-90ABDE7652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7611294" y="2595522"/>
            <a:ext cx="3294339" cy="801326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7904E06B-9ECD-45B4-7473-AC226F0BD60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7580039" y="3441549"/>
            <a:ext cx="4140276" cy="1012356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486FD3D0-C68A-7DE9-C1E6-EAE1E0249F2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7580039" y="4540543"/>
            <a:ext cx="4140276" cy="375466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F4B28774-DEA8-F155-71B9-8C035F2832BE}"/>
              </a:ext>
            </a:extLst>
          </p:cNvPr>
          <p:cNvSpPr txBox="1"/>
          <p:nvPr/>
        </p:nvSpPr>
        <p:spPr>
          <a:xfrm>
            <a:off x="-3475915" y="3379677"/>
            <a:ext cx="20327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Fonctions pour faire un saut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89EBE3A5-7A96-C72C-CE06-EFC3A6D0CBD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996047" y="4024021"/>
            <a:ext cx="5457045" cy="277883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35272BC9-96E0-1370-79BD-720E1BE0176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607906" y="4502665"/>
            <a:ext cx="4009615" cy="977072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8C9F3AFE-8CEE-4693-7FDE-452BBC1FE7A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010390" y="5674219"/>
            <a:ext cx="4079047" cy="950595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135992FE-5107-3CA4-5DD9-37F1C9ACC310}"/>
              </a:ext>
            </a:extLst>
          </p:cNvPr>
          <p:cNvSpPr txBox="1"/>
          <p:nvPr/>
        </p:nvSpPr>
        <p:spPr>
          <a:xfrm>
            <a:off x="18872518" y="4484822"/>
            <a:ext cx="18679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Vérification des différentes touches </a:t>
            </a:r>
          </a:p>
        </p:txBody>
      </p:sp>
      <p:pic>
        <p:nvPicPr>
          <p:cNvPr id="38" name="Image 37">
            <a:extLst>
              <a:ext uri="{FF2B5EF4-FFF2-40B4-BE49-F238E27FC236}">
                <a16:creationId xmlns:a16="http://schemas.microsoft.com/office/drawing/2014/main" id="{47541175-E7A0-176D-9F9A-D507E684C7F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929755" y="2581115"/>
            <a:ext cx="3200847" cy="533474"/>
          </a:xfrm>
          <a:prstGeom prst="rect">
            <a:avLst/>
          </a:prstGeom>
        </p:spPr>
      </p:pic>
      <p:pic>
        <p:nvPicPr>
          <p:cNvPr id="39" name="Image 38">
            <a:extLst>
              <a:ext uri="{FF2B5EF4-FFF2-40B4-BE49-F238E27FC236}">
                <a16:creationId xmlns:a16="http://schemas.microsoft.com/office/drawing/2014/main" id="{3AC402BD-D8B7-FD09-9A37-7E1309B4438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526966" y="3191413"/>
            <a:ext cx="3038899" cy="533474"/>
          </a:xfrm>
          <a:prstGeom prst="rect">
            <a:avLst/>
          </a:prstGeom>
        </p:spPr>
      </p:pic>
      <p:sp>
        <p:nvSpPr>
          <p:cNvPr id="40" name="ZoneTexte 39">
            <a:extLst>
              <a:ext uri="{FF2B5EF4-FFF2-40B4-BE49-F238E27FC236}">
                <a16:creationId xmlns:a16="http://schemas.microsoft.com/office/drawing/2014/main" id="{5A7DC002-F022-04E7-8A84-CE93CBBDB5D7}"/>
              </a:ext>
            </a:extLst>
          </p:cNvPr>
          <p:cNvSpPr txBox="1"/>
          <p:nvPr/>
        </p:nvSpPr>
        <p:spPr>
          <a:xfrm>
            <a:off x="19179543" y="3100106"/>
            <a:ext cx="26178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Ajout ou enlèvement d’une valeur de touche</a:t>
            </a:r>
          </a:p>
        </p:txBody>
      </p:sp>
    </p:spTree>
    <p:extLst>
      <p:ext uri="{BB962C8B-B14F-4D97-AF65-F5344CB8AC3E}">
        <p14:creationId xmlns:p14="http://schemas.microsoft.com/office/powerpoint/2010/main" val="14986710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ZoneTexte 21">
            <a:extLst>
              <a:ext uri="{FF2B5EF4-FFF2-40B4-BE49-F238E27FC236}">
                <a16:creationId xmlns:a16="http://schemas.microsoft.com/office/drawing/2014/main" id="{7C3B2B43-CA75-A970-5D1D-53311731588A}"/>
              </a:ext>
            </a:extLst>
          </p:cNvPr>
          <p:cNvSpPr txBox="1"/>
          <p:nvPr/>
        </p:nvSpPr>
        <p:spPr>
          <a:xfrm>
            <a:off x="3352417" y="177286"/>
            <a:ext cx="54871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Harlow Solid Italic" panose="04030604020F02020D02" pitchFamily="82" charset="0"/>
              </a:rPr>
              <a:t>Déplacements du joueur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7B4BA48-C3B6-A0BB-75BF-94F42C502C7C}"/>
              </a:ext>
            </a:extLst>
          </p:cNvPr>
          <p:cNvSpPr/>
          <p:nvPr/>
        </p:nvSpPr>
        <p:spPr>
          <a:xfrm>
            <a:off x="261259" y="1096275"/>
            <a:ext cx="6230258" cy="3975498"/>
          </a:xfrm>
          <a:prstGeom prst="rect">
            <a:avLst/>
          </a:prstGeom>
          <a:noFill/>
          <a:ln w="2857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807C54C-CF6F-8CBB-9DB3-E6B656A327DF}"/>
              </a:ext>
            </a:extLst>
          </p:cNvPr>
          <p:cNvSpPr/>
          <p:nvPr/>
        </p:nvSpPr>
        <p:spPr>
          <a:xfrm>
            <a:off x="6284688" y="2537958"/>
            <a:ext cx="5747657" cy="413192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FD44F66F-E97A-FB8F-D9BC-E6EEDB100667}"/>
              </a:ext>
            </a:extLst>
          </p:cNvPr>
          <p:cNvSpPr txBox="1"/>
          <p:nvPr/>
        </p:nvSpPr>
        <p:spPr>
          <a:xfrm>
            <a:off x="16192668" y="4692962"/>
            <a:ext cx="2694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Deux types de collisions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BFD336CC-D410-07E2-7234-601BC5B2107B}"/>
              </a:ext>
            </a:extLst>
          </p:cNvPr>
          <p:cNvSpPr txBox="1"/>
          <p:nvPr/>
        </p:nvSpPr>
        <p:spPr>
          <a:xfrm>
            <a:off x="3617688" y="-3800843"/>
            <a:ext cx="57476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Harlow Solid Italic" panose="04030604020F02020D02" pitchFamily="82" charset="0"/>
              </a:rPr>
              <a:t>Monstres et Plateformes</a:t>
            </a:r>
          </a:p>
        </p:txBody>
      </p:sp>
      <p:pic>
        <p:nvPicPr>
          <p:cNvPr id="61" name="Image 60">
            <a:extLst>
              <a:ext uri="{FF2B5EF4-FFF2-40B4-BE49-F238E27FC236}">
                <a16:creationId xmlns:a16="http://schemas.microsoft.com/office/drawing/2014/main" id="{A8139C4E-4CE3-C1F1-80B5-4AD70B2E9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180348" y="1231741"/>
            <a:ext cx="2758475" cy="2581850"/>
          </a:xfrm>
          <a:prstGeom prst="rect">
            <a:avLst/>
          </a:prstGeom>
        </p:spPr>
      </p:pic>
      <p:pic>
        <p:nvPicPr>
          <p:cNvPr id="62" name="Image 61">
            <a:extLst>
              <a:ext uri="{FF2B5EF4-FFF2-40B4-BE49-F238E27FC236}">
                <a16:creationId xmlns:a16="http://schemas.microsoft.com/office/drawing/2014/main" id="{FBA056FC-25F2-41FF-6369-0B03E0297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218134" y="2537958"/>
            <a:ext cx="2689585" cy="2391324"/>
          </a:xfrm>
          <a:prstGeom prst="rect">
            <a:avLst/>
          </a:prstGeom>
        </p:spPr>
      </p:pic>
      <p:sp>
        <p:nvSpPr>
          <p:cNvPr id="63" name="ZoneTexte 62">
            <a:extLst>
              <a:ext uri="{FF2B5EF4-FFF2-40B4-BE49-F238E27FC236}">
                <a16:creationId xmlns:a16="http://schemas.microsoft.com/office/drawing/2014/main" id="{66916340-132B-1044-F1E1-AA7181A9DB75}"/>
              </a:ext>
            </a:extLst>
          </p:cNvPr>
          <p:cNvSpPr txBox="1"/>
          <p:nvPr/>
        </p:nvSpPr>
        <p:spPr>
          <a:xfrm>
            <a:off x="-7337862" y="3796802"/>
            <a:ext cx="3061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Class Cat (premier monstre)</a:t>
            </a:r>
          </a:p>
        </p:txBody>
      </p:sp>
      <p:sp>
        <p:nvSpPr>
          <p:cNvPr id="64" name="ZoneTexte 63">
            <a:extLst>
              <a:ext uri="{FF2B5EF4-FFF2-40B4-BE49-F238E27FC236}">
                <a16:creationId xmlns:a16="http://schemas.microsoft.com/office/drawing/2014/main" id="{4CE1FEFA-3214-97AA-D178-8CF662296617}"/>
              </a:ext>
            </a:extLst>
          </p:cNvPr>
          <p:cNvSpPr txBox="1"/>
          <p:nvPr/>
        </p:nvSpPr>
        <p:spPr>
          <a:xfrm>
            <a:off x="-4266075" y="2195412"/>
            <a:ext cx="3061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Class Bob (second monstre)</a:t>
            </a:r>
          </a:p>
        </p:txBody>
      </p:sp>
      <p:pic>
        <p:nvPicPr>
          <p:cNvPr id="65" name="Image 64">
            <a:extLst>
              <a:ext uri="{FF2B5EF4-FFF2-40B4-BE49-F238E27FC236}">
                <a16:creationId xmlns:a16="http://schemas.microsoft.com/office/drawing/2014/main" id="{97EB4691-D850-4553-2935-DD37A4D399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0583" y="3162631"/>
            <a:ext cx="2791215" cy="752580"/>
          </a:xfrm>
          <a:prstGeom prst="rect">
            <a:avLst/>
          </a:prstGeom>
        </p:spPr>
      </p:pic>
      <p:pic>
        <p:nvPicPr>
          <p:cNvPr id="66" name="Image 65">
            <a:extLst>
              <a:ext uri="{FF2B5EF4-FFF2-40B4-BE49-F238E27FC236}">
                <a16:creationId xmlns:a16="http://schemas.microsoft.com/office/drawing/2014/main" id="{4C3AC05A-E122-AC50-B6A2-D86BE7CCF5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40794" y="4374790"/>
            <a:ext cx="3238952" cy="733527"/>
          </a:xfrm>
          <a:prstGeom prst="rect">
            <a:avLst/>
          </a:prstGeom>
        </p:spPr>
      </p:pic>
      <p:pic>
        <p:nvPicPr>
          <p:cNvPr id="67" name="Image 66">
            <a:extLst>
              <a:ext uri="{FF2B5EF4-FFF2-40B4-BE49-F238E27FC236}">
                <a16:creationId xmlns:a16="http://schemas.microsoft.com/office/drawing/2014/main" id="{7CAD2DAF-52A2-341F-5016-CEC8D56416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26635" y="5492347"/>
            <a:ext cx="3315163" cy="724001"/>
          </a:xfrm>
          <a:prstGeom prst="rect">
            <a:avLst/>
          </a:prstGeom>
        </p:spPr>
      </p:pic>
      <p:sp>
        <p:nvSpPr>
          <p:cNvPr id="68" name="ZoneTexte 67">
            <a:extLst>
              <a:ext uri="{FF2B5EF4-FFF2-40B4-BE49-F238E27FC236}">
                <a16:creationId xmlns:a16="http://schemas.microsoft.com/office/drawing/2014/main" id="{B9351D68-2C61-A5D8-3DA1-79E88C3BAED8}"/>
              </a:ext>
            </a:extLst>
          </p:cNvPr>
          <p:cNvSpPr txBox="1"/>
          <p:nvPr/>
        </p:nvSpPr>
        <p:spPr>
          <a:xfrm>
            <a:off x="14379768" y="2654991"/>
            <a:ext cx="26708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3 types de plateformes :</a:t>
            </a: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17612D84-ECEA-D43B-9BDA-B20889700907}"/>
              </a:ext>
            </a:extLst>
          </p:cNvPr>
          <p:cNvSpPr txBox="1"/>
          <p:nvPr/>
        </p:nvSpPr>
        <p:spPr>
          <a:xfrm>
            <a:off x="17003591" y="2791303"/>
            <a:ext cx="12604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Classiques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BCD845F5-9706-E407-18C6-86C94F9E47EC}"/>
              </a:ext>
            </a:extLst>
          </p:cNvPr>
          <p:cNvSpPr txBox="1"/>
          <p:nvPr/>
        </p:nvSpPr>
        <p:spPr>
          <a:xfrm>
            <a:off x="14440794" y="3974680"/>
            <a:ext cx="18785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Rebondissantes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251439EB-D058-EFC3-7409-0D6AB77E2EA3}"/>
              </a:ext>
            </a:extLst>
          </p:cNvPr>
          <p:cNvSpPr txBox="1"/>
          <p:nvPr/>
        </p:nvSpPr>
        <p:spPr>
          <a:xfrm>
            <a:off x="18634436" y="5156839"/>
            <a:ext cx="18785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Mouvant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73CDC1C-D421-B3C0-D6DC-A644240A9DD2}"/>
              </a:ext>
            </a:extLst>
          </p:cNvPr>
          <p:cNvSpPr txBox="1"/>
          <p:nvPr/>
        </p:nvSpPr>
        <p:spPr>
          <a:xfrm>
            <a:off x="2980870" y="-2563851"/>
            <a:ext cx="62302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Harlow Solid Italic" panose="04030604020F02020D02" pitchFamily="82" charset="0"/>
              </a:rPr>
              <a:t>Première fenêtre et joueur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E109E51-A52F-7F0D-6E06-469F62C856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7083745" y="1395371"/>
            <a:ext cx="5487166" cy="1343212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AA5CB0FB-AE94-732E-3680-90E84C7E83B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7069229" y="3071977"/>
            <a:ext cx="3134162" cy="114316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6B034DA-446A-9F0D-3C08-55DD5489C64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412324" y="3162631"/>
            <a:ext cx="4216665" cy="1481944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40C51644-91F7-C009-D890-700C241FEAB2}"/>
              </a:ext>
            </a:extLst>
          </p:cNvPr>
          <p:cNvSpPr txBox="1"/>
          <p:nvPr/>
        </p:nvSpPr>
        <p:spPr>
          <a:xfrm>
            <a:off x="14659061" y="4838685"/>
            <a:ext cx="37359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Création d’une classe Player qui contiendra tous les attributs du joueur et qui sera un </a:t>
            </a:r>
            <a:r>
              <a:rPr lang="fr-FR" sz="2000" dirty="0" err="1">
                <a:latin typeface="Harlow Solid Italic" panose="04030604020F02020D02" pitchFamily="82" charset="0"/>
              </a:rPr>
              <a:t>sprite</a:t>
            </a:r>
            <a:r>
              <a:rPr lang="fr-FR" sz="2000" dirty="0">
                <a:latin typeface="Harlow Solid Italic" panose="04030604020F02020D02" pitchFamily="82" charset="0"/>
              </a:rPr>
              <a:t>.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E3AB675-B7E8-163B-85F4-25FE8480AD62}"/>
              </a:ext>
            </a:extLst>
          </p:cNvPr>
          <p:cNvSpPr txBox="1"/>
          <p:nvPr/>
        </p:nvSpPr>
        <p:spPr>
          <a:xfrm>
            <a:off x="-3804438" y="3240460"/>
            <a:ext cx="26254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Création de la fenêtre de jeu et boucle pour actualiser cette fenêtre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42858058-F833-9E43-2301-F34C40DE538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33330" y="1133638"/>
            <a:ext cx="3313284" cy="1290717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838EFBBF-0995-5B50-CB6E-9CE11ABF7B72}"/>
              </a:ext>
            </a:extLst>
          </p:cNvPr>
          <p:cNvSpPr txBox="1"/>
          <p:nvPr/>
        </p:nvSpPr>
        <p:spPr>
          <a:xfrm>
            <a:off x="1148563" y="1066964"/>
            <a:ext cx="20327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2 fonctions pour se déplacer à droite et à gauche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DCACE874-1439-A843-4128-1AC19AF25F3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349" y="2595522"/>
            <a:ext cx="3294339" cy="801326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062682FC-A8B5-6373-FCAD-1EB8950B8C4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4604" y="3441549"/>
            <a:ext cx="4140276" cy="1012356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4A2E0565-D343-CCF6-5FCF-E92CEDD65B3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4604" y="4540543"/>
            <a:ext cx="4140276" cy="375466"/>
          </a:xfrm>
          <a:prstGeom prst="rect">
            <a:avLst/>
          </a:prstGeom>
        </p:spPr>
      </p:pic>
      <p:sp>
        <p:nvSpPr>
          <p:cNvPr id="34" name="ZoneTexte 33">
            <a:extLst>
              <a:ext uri="{FF2B5EF4-FFF2-40B4-BE49-F238E27FC236}">
                <a16:creationId xmlns:a16="http://schemas.microsoft.com/office/drawing/2014/main" id="{F1F73694-95FD-94C4-1AB2-5765A8211A7A}"/>
              </a:ext>
            </a:extLst>
          </p:cNvPr>
          <p:cNvSpPr txBox="1"/>
          <p:nvPr/>
        </p:nvSpPr>
        <p:spPr>
          <a:xfrm>
            <a:off x="4458728" y="3379677"/>
            <a:ext cx="20327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Fonctions pour faire un saut</a:t>
            </a:r>
          </a:p>
        </p:txBody>
      </p:sp>
      <p:pic>
        <p:nvPicPr>
          <p:cNvPr id="36" name="Image 35">
            <a:extLst>
              <a:ext uri="{FF2B5EF4-FFF2-40B4-BE49-F238E27FC236}">
                <a16:creationId xmlns:a16="http://schemas.microsoft.com/office/drawing/2014/main" id="{7F40A93C-FDB0-95EE-713B-7EC2B97C014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41926" y="4024021"/>
            <a:ext cx="5457045" cy="277883"/>
          </a:xfrm>
          <a:prstGeom prst="rect">
            <a:avLst/>
          </a:prstGeom>
        </p:spPr>
      </p:pic>
      <p:pic>
        <p:nvPicPr>
          <p:cNvPr id="38" name="Image 37">
            <a:extLst>
              <a:ext uri="{FF2B5EF4-FFF2-40B4-BE49-F238E27FC236}">
                <a16:creationId xmlns:a16="http://schemas.microsoft.com/office/drawing/2014/main" id="{5D246EAB-C816-C5AF-99A7-7CFA804874D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53785" y="4502665"/>
            <a:ext cx="4009615" cy="977072"/>
          </a:xfrm>
          <a:prstGeom prst="rect">
            <a:avLst/>
          </a:prstGeom>
        </p:spPr>
      </p:pic>
      <p:pic>
        <p:nvPicPr>
          <p:cNvPr id="40" name="Image 39">
            <a:extLst>
              <a:ext uri="{FF2B5EF4-FFF2-40B4-BE49-F238E27FC236}">
                <a16:creationId xmlns:a16="http://schemas.microsoft.com/office/drawing/2014/main" id="{8B62AE2E-0B77-9586-087E-0F2745DB879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56269" y="5674219"/>
            <a:ext cx="4079047" cy="950595"/>
          </a:xfrm>
          <a:prstGeom prst="rect">
            <a:avLst/>
          </a:prstGeom>
        </p:spPr>
      </p:pic>
      <p:sp>
        <p:nvSpPr>
          <p:cNvPr id="41" name="ZoneTexte 40">
            <a:extLst>
              <a:ext uri="{FF2B5EF4-FFF2-40B4-BE49-F238E27FC236}">
                <a16:creationId xmlns:a16="http://schemas.microsoft.com/office/drawing/2014/main" id="{13E0BDD1-BBA2-DF83-F087-19F2784749C2}"/>
              </a:ext>
            </a:extLst>
          </p:cNvPr>
          <p:cNvSpPr txBox="1"/>
          <p:nvPr/>
        </p:nvSpPr>
        <p:spPr>
          <a:xfrm>
            <a:off x="6218397" y="4484822"/>
            <a:ext cx="18679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Vérification des différentes touches </a:t>
            </a:r>
          </a:p>
        </p:txBody>
      </p:sp>
      <p:pic>
        <p:nvPicPr>
          <p:cNvPr id="44" name="Image 43">
            <a:extLst>
              <a:ext uri="{FF2B5EF4-FFF2-40B4-BE49-F238E27FC236}">
                <a16:creationId xmlns:a16="http://schemas.microsoft.com/office/drawing/2014/main" id="{BD9830E5-8BED-69C7-DF22-035B1111A84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18655" y="2581115"/>
            <a:ext cx="3200847" cy="533474"/>
          </a:xfrm>
          <a:prstGeom prst="rect">
            <a:avLst/>
          </a:prstGeom>
        </p:spPr>
      </p:pic>
      <p:pic>
        <p:nvPicPr>
          <p:cNvPr id="46" name="Image 45">
            <a:extLst>
              <a:ext uri="{FF2B5EF4-FFF2-40B4-BE49-F238E27FC236}">
                <a16:creationId xmlns:a16="http://schemas.microsoft.com/office/drawing/2014/main" id="{8DF4A3DF-4BD7-C5C2-14BC-87E93E1FC5C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15866" y="3191413"/>
            <a:ext cx="3038899" cy="533474"/>
          </a:xfrm>
          <a:prstGeom prst="rect">
            <a:avLst/>
          </a:prstGeom>
        </p:spPr>
      </p:pic>
      <p:sp>
        <p:nvSpPr>
          <p:cNvPr id="47" name="ZoneTexte 46">
            <a:extLst>
              <a:ext uri="{FF2B5EF4-FFF2-40B4-BE49-F238E27FC236}">
                <a16:creationId xmlns:a16="http://schemas.microsoft.com/office/drawing/2014/main" id="{2AB82F61-5E0A-51E5-F51B-E7C5639FC4C0}"/>
              </a:ext>
            </a:extLst>
          </p:cNvPr>
          <p:cNvSpPr txBox="1"/>
          <p:nvPr/>
        </p:nvSpPr>
        <p:spPr>
          <a:xfrm>
            <a:off x="6568443" y="3100106"/>
            <a:ext cx="26178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Ajout ou enlèvement d’une valeur de touche</a:t>
            </a:r>
          </a:p>
        </p:txBody>
      </p:sp>
    </p:spTree>
    <p:extLst>
      <p:ext uri="{BB962C8B-B14F-4D97-AF65-F5344CB8AC3E}">
        <p14:creationId xmlns:p14="http://schemas.microsoft.com/office/powerpoint/2010/main" val="7843827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07B4BA48-C3B6-A0BB-75BF-94F42C502C7C}"/>
              </a:ext>
            </a:extLst>
          </p:cNvPr>
          <p:cNvSpPr/>
          <p:nvPr/>
        </p:nvSpPr>
        <p:spPr>
          <a:xfrm>
            <a:off x="261259" y="1096275"/>
            <a:ext cx="6230258" cy="3975498"/>
          </a:xfrm>
          <a:prstGeom prst="rect">
            <a:avLst/>
          </a:prstGeom>
          <a:noFill/>
          <a:ln w="2857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807C54C-CF6F-8CBB-9DB3-E6B656A327DF}"/>
              </a:ext>
            </a:extLst>
          </p:cNvPr>
          <p:cNvSpPr/>
          <p:nvPr/>
        </p:nvSpPr>
        <p:spPr>
          <a:xfrm>
            <a:off x="6284688" y="2537958"/>
            <a:ext cx="5747657" cy="410932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F3F13F3A-4E0F-24D3-2366-7CD1323659C4}"/>
              </a:ext>
            </a:extLst>
          </p:cNvPr>
          <p:cNvSpPr txBox="1"/>
          <p:nvPr/>
        </p:nvSpPr>
        <p:spPr>
          <a:xfrm>
            <a:off x="3474551" y="-4056177"/>
            <a:ext cx="48364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Harlow Solid Italic" panose="04030604020F02020D02" pitchFamily="82" charset="0"/>
              </a:rPr>
              <a:t>Collisions et </a:t>
            </a:r>
            <a:r>
              <a:rPr lang="fr-FR" sz="4400" dirty="0" err="1">
                <a:latin typeface="Harlow Solid Italic" panose="04030604020F02020D02" pitchFamily="82" charset="0"/>
              </a:rPr>
              <a:t>hitboxes</a:t>
            </a:r>
            <a:endParaRPr lang="fr-FR" sz="4400" dirty="0">
              <a:latin typeface="Harlow Solid Italic" panose="04030604020F02020D02" pitchFamily="82" charset="0"/>
            </a:endParaRP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1758392D-4306-D661-1FBF-22B1ED27EEF5}"/>
              </a:ext>
            </a:extLst>
          </p:cNvPr>
          <p:cNvSpPr txBox="1"/>
          <p:nvPr/>
        </p:nvSpPr>
        <p:spPr>
          <a:xfrm>
            <a:off x="-12970906" y="3796803"/>
            <a:ext cx="53899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Actualisation des </a:t>
            </a:r>
            <a:r>
              <a:rPr lang="fr-FR" sz="2000" dirty="0" err="1">
                <a:latin typeface="Harlow Solid Italic" panose="04030604020F02020D02" pitchFamily="82" charset="0"/>
              </a:rPr>
              <a:t>hitboxes</a:t>
            </a:r>
            <a:r>
              <a:rPr lang="fr-FR" sz="2000" dirty="0">
                <a:latin typeface="Harlow Solid Italic" panose="04030604020F02020D02" pitchFamily="82" charset="0"/>
              </a:rPr>
              <a:t> du joueur et des monstres </a:t>
            </a:r>
          </a:p>
        </p:txBody>
      </p:sp>
      <p:pic>
        <p:nvPicPr>
          <p:cNvPr id="39" name="Image 38">
            <a:extLst>
              <a:ext uri="{FF2B5EF4-FFF2-40B4-BE49-F238E27FC236}">
                <a16:creationId xmlns:a16="http://schemas.microsoft.com/office/drawing/2014/main" id="{0678A486-C05F-8721-ACB9-1BD3811CD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6807" y="3828964"/>
            <a:ext cx="1884241" cy="2140180"/>
          </a:xfrm>
          <a:prstGeom prst="rect">
            <a:avLst/>
          </a:prstGeom>
        </p:spPr>
      </p:pic>
      <p:pic>
        <p:nvPicPr>
          <p:cNvPr id="40" name="Image 39">
            <a:extLst>
              <a:ext uri="{FF2B5EF4-FFF2-40B4-BE49-F238E27FC236}">
                <a16:creationId xmlns:a16="http://schemas.microsoft.com/office/drawing/2014/main" id="{80B4E798-D030-8A3D-1A9E-248529DFF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8045" y="3463555"/>
            <a:ext cx="2879599" cy="666495"/>
          </a:xfrm>
          <a:prstGeom prst="rect">
            <a:avLst/>
          </a:prstGeom>
        </p:spPr>
      </p:pic>
      <p:pic>
        <p:nvPicPr>
          <p:cNvPr id="41" name="Image 40">
            <a:extLst>
              <a:ext uri="{FF2B5EF4-FFF2-40B4-BE49-F238E27FC236}">
                <a16:creationId xmlns:a16="http://schemas.microsoft.com/office/drawing/2014/main" id="{082F213F-5552-B2A6-187B-8215A67ACA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8045" y="5685950"/>
            <a:ext cx="2879599" cy="168398"/>
          </a:xfrm>
          <a:prstGeom prst="rect">
            <a:avLst/>
          </a:prstGeom>
        </p:spPr>
      </p:pic>
      <p:sp>
        <p:nvSpPr>
          <p:cNvPr id="42" name="ZoneTexte 41">
            <a:extLst>
              <a:ext uri="{FF2B5EF4-FFF2-40B4-BE49-F238E27FC236}">
                <a16:creationId xmlns:a16="http://schemas.microsoft.com/office/drawing/2014/main" id="{FD44F66F-E97A-FB8F-D9BC-E6EEDB100667}"/>
              </a:ext>
            </a:extLst>
          </p:cNvPr>
          <p:cNvSpPr txBox="1"/>
          <p:nvPr/>
        </p:nvSpPr>
        <p:spPr>
          <a:xfrm>
            <a:off x="16192668" y="4692962"/>
            <a:ext cx="2694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Deux types de collisions</a:t>
            </a:r>
          </a:p>
        </p:txBody>
      </p:sp>
      <p:cxnSp>
        <p:nvCxnSpPr>
          <p:cNvPr id="43" name="Connecteur : en arc 42">
            <a:extLst>
              <a:ext uri="{FF2B5EF4-FFF2-40B4-BE49-F238E27FC236}">
                <a16:creationId xmlns:a16="http://schemas.microsoft.com/office/drawing/2014/main" id="{F373C2A8-1631-F2BC-BD7C-93376DE106F4}"/>
              </a:ext>
            </a:extLst>
          </p:cNvPr>
          <p:cNvCxnSpPr>
            <a:cxnSpLocks/>
            <a:stCxn id="39" idx="3"/>
            <a:endCxn id="40" idx="1"/>
          </p:cNvCxnSpPr>
          <p:nvPr/>
        </p:nvCxnSpPr>
        <p:spPr>
          <a:xfrm flipV="1">
            <a:off x="15331048" y="3796803"/>
            <a:ext cx="676997" cy="1102251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 : en arc 43">
            <a:extLst>
              <a:ext uri="{FF2B5EF4-FFF2-40B4-BE49-F238E27FC236}">
                <a16:creationId xmlns:a16="http://schemas.microsoft.com/office/drawing/2014/main" id="{F7FB26DD-6E83-8A50-D6E9-9A2DCBC97035}"/>
              </a:ext>
            </a:extLst>
          </p:cNvPr>
          <p:cNvCxnSpPr>
            <a:cxnSpLocks/>
            <a:stCxn id="39" idx="3"/>
            <a:endCxn id="41" idx="1"/>
          </p:cNvCxnSpPr>
          <p:nvPr/>
        </p:nvCxnSpPr>
        <p:spPr>
          <a:xfrm>
            <a:off x="15331048" y="4899054"/>
            <a:ext cx="676997" cy="871095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Image 44">
            <a:extLst>
              <a:ext uri="{FF2B5EF4-FFF2-40B4-BE49-F238E27FC236}">
                <a16:creationId xmlns:a16="http://schemas.microsoft.com/office/drawing/2014/main" id="{8313D7FA-4C91-E47E-F9E0-9CE7CF967A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346866" y="1703153"/>
            <a:ext cx="2061340" cy="1111735"/>
          </a:xfrm>
          <a:prstGeom prst="rect">
            <a:avLst/>
          </a:prstGeom>
        </p:spPr>
      </p:pic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E860F4C9-6B5F-7B4C-6D45-8EDEA8010566}"/>
              </a:ext>
            </a:extLst>
          </p:cNvPr>
          <p:cNvCxnSpPr>
            <a:cxnSpLocks/>
            <a:endCxn id="45" idx="1"/>
          </p:cNvCxnSpPr>
          <p:nvPr/>
        </p:nvCxnSpPr>
        <p:spPr>
          <a:xfrm flipV="1">
            <a:off x="-7223249" y="2259021"/>
            <a:ext cx="1876383" cy="2647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id="{2C0D11AB-64C4-9CEB-5582-6DB9DEFBAB09}"/>
              </a:ext>
            </a:extLst>
          </p:cNvPr>
          <p:cNvSpPr txBox="1"/>
          <p:nvPr/>
        </p:nvSpPr>
        <p:spPr>
          <a:xfrm>
            <a:off x="3617688" y="210719"/>
            <a:ext cx="57476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Harlow Solid Italic" panose="04030604020F02020D02" pitchFamily="82" charset="0"/>
              </a:rPr>
              <a:t>Monstres et Plateformes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5619E10E-0C7B-87CC-5596-7DEA59C676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8187" y="2537958"/>
            <a:ext cx="2689585" cy="2391324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2907159A-EE05-7CD1-2598-7F9FFEAC5EF6}"/>
              </a:ext>
            </a:extLst>
          </p:cNvPr>
          <p:cNvSpPr txBox="1"/>
          <p:nvPr/>
        </p:nvSpPr>
        <p:spPr>
          <a:xfrm>
            <a:off x="358459" y="3796802"/>
            <a:ext cx="3061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Class Cat (premier monstre)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792117C9-35DF-1333-5EB6-580D55C447D5}"/>
              </a:ext>
            </a:extLst>
          </p:cNvPr>
          <p:cNvSpPr txBox="1"/>
          <p:nvPr/>
        </p:nvSpPr>
        <p:spPr>
          <a:xfrm>
            <a:off x="3430246" y="2195412"/>
            <a:ext cx="3061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Class Bob (second monstre)</a:t>
            </a:r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D8C5E18F-9A8B-6725-77E9-07073F493D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2326" y="3162631"/>
            <a:ext cx="2791215" cy="752580"/>
          </a:xfrm>
          <a:prstGeom prst="rect">
            <a:avLst/>
          </a:prstGeom>
        </p:spPr>
      </p:pic>
      <p:pic>
        <p:nvPicPr>
          <p:cNvPr id="37" name="Image 36">
            <a:extLst>
              <a:ext uri="{FF2B5EF4-FFF2-40B4-BE49-F238E27FC236}">
                <a16:creationId xmlns:a16="http://schemas.microsoft.com/office/drawing/2014/main" id="{00BD2847-F7E0-2F1C-71D3-BA563C632B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2537" y="4374790"/>
            <a:ext cx="3238952" cy="733527"/>
          </a:xfrm>
          <a:prstGeom prst="rect">
            <a:avLst/>
          </a:prstGeom>
        </p:spPr>
      </p:pic>
      <p:pic>
        <p:nvPicPr>
          <p:cNvPr id="48" name="Image 47">
            <a:extLst>
              <a:ext uri="{FF2B5EF4-FFF2-40B4-BE49-F238E27FC236}">
                <a16:creationId xmlns:a16="http://schemas.microsoft.com/office/drawing/2014/main" id="{A1879C7B-DC62-55C7-4FD2-39DD1846343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18378" y="5492347"/>
            <a:ext cx="3315163" cy="724001"/>
          </a:xfrm>
          <a:prstGeom prst="rect">
            <a:avLst/>
          </a:prstGeom>
        </p:spPr>
      </p:pic>
      <p:sp>
        <p:nvSpPr>
          <p:cNvPr id="49" name="ZoneTexte 48">
            <a:extLst>
              <a:ext uri="{FF2B5EF4-FFF2-40B4-BE49-F238E27FC236}">
                <a16:creationId xmlns:a16="http://schemas.microsoft.com/office/drawing/2014/main" id="{65D2ABEA-B438-414D-5BD5-A6093DD1335A}"/>
              </a:ext>
            </a:extLst>
          </p:cNvPr>
          <p:cNvSpPr txBox="1"/>
          <p:nvPr/>
        </p:nvSpPr>
        <p:spPr>
          <a:xfrm>
            <a:off x="6371511" y="2654991"/>
            <a:ext cx="26708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3 types de plateformes :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FC0163C1-832E-58F8-F598-47C95DD0AE93}"/>
              </a:ext>
            </a:extLst>
          </p:cNvPr>
          <p:cNvSpPr txBox="1"/>
          <p:nvPr/>
        </p:nvSpPr>
        <p:spPr>
          <a:xfrm>
            <a:off x="8995334" y="2791303"/>
            <a:ext cx="12604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Classiques</a:t>
            </a: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F8B9A650-A43A-E00A-6AF9-A4549D3BB9B6}"/>
              </a:ext>
            </a:extLst>
          </p:cNvPr>
          <p:cNvSpPr txBox="1"/>
          <p:nvPr/>
        </p:nvSpPr>
        <p:spPr>
          <a:xfrm>
            <a:off x="6432537" y="3974680"/>
            <a:ext cx="18785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Rebondissantes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C5FEFE68-27B3-8BD2-154D-E7A98BC341AB}"/>
              </a:ext>
            </a:extLst>
          </p:cNvPr>
          <p:cNvSpPr txBox="1"/>
          <p:nvPr/>
        </p:nvSpPr>
        <p:spPr>
          <a:xfrm>
            <a:off x="10626179" y="5156839"/>
            <a:ext cx="18785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Mouvant</a:t>
            </a:r>
          </a:p>
        </p:txBody>
      </p:sp>
      <p:pic>
        <p:nvPicPr>
          <p:cNvPr id="54" name="Image 53">
            <a:extLst>
              <a:ext uri="{FF2B5EF4-FFF2-40B4-BE49-F238E27FC236}">
                <a16:creationId xmlns:a16="http://schemas.microsoft.com/office/drawing/2014/main" id="{322DA355-23CC-7E86-46B5-46EC51C93B3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8169" y="1244086"/>
            <a:ext cx="2616548" cy="2524918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D1279785-49A8-86C3-0104-803BF97E998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2892882" y="1402602"/>
            <a:ext cx="5747657" cy="2232826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55383F52-95B1-51C4-AB46-BC8A30044466}"/>
              </a:ext>
            </a:extLst>
          </p:cNvPr>
          <p:cNvSpPr txBox="1"/>
          <p:nvPr/>
        </p:nvSpPr>
        <p:spPr>
          <a:xfrm>
            <a:off x="3352417" y="-3686796"/>
            <a:ext cx="54871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Harlow Solid Italic" panose="04030604020F02020D02" pitchFamily="82" charset="0"/>
              </a:rPr>
              <a:t>Déplacements du joueur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2984B599-F495-50DE-D5A0-6B644705FB2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4801313" y="1133638"/>
            <a:ext cx="3313284" cy="1290717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9154B623-06E5-5A14-631A-2E2368FC4FBA}"/>
              </a:ext>
            </a:extLst>
          </p:cNvPr>
          <p:cNvSpPr txBox="1"/>
          <p:nvPr/>
        </p:nvSpPr>
        <p:spPr>
          <a:xfrm>
            <a:off x="-6786080" y="1066964"/>
            <a:ext cx="20327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2 fonctions pour se déplacer à droite et à gauche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20436441-B33E-2199-11D9-85ED4925364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7611294" y="2595522"/>
            <a:ext cx="3294339" cy="801326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5AE435DD-2945-74D9-FBE8-687DBB2AB13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7580039" y="3441549"/>
            <a:ext cx="4140276" cy="1012356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508A2F6F-5E61-A971-A96D-6E76A883411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7580039" y="4540543"/>
            <a:ext cx="4140276" cy="375466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9558CFD7-5F69-A240-B2E5-87D8DCE80031}"/>
              </a:ext>
            </a:extLst>
          </p:cNvPr>
          <p:cNvSpPr txBox="1"/>
          <p:nvPr/>
        </p:nvSpPr>
        <p:spPr>
          <a:xfrm>
            <a:off x="-3475915" y="3379677"/>
            <a:ext cx="20327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Fonctions pour faire un saut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C0FCD199-E6E4-D956-3C1D-1426E8198EE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996047" y="4024021"/>
            <a:ext cx="5457045" cy="277883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C144D9E5-D76F-ABD8-0865-3802ADFE50F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0607906" y="4502665"/>
            <a:ext cx="4009615" cy="977072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FDA60C62-B259-9398-8AE4-52FF39D2D81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010390" y="5674219"/>
            <a:ext cx="4079047" cy="950595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8886B669-3588-BD3E-DC00-48425E7C82B9}"/>
              </a:ext>
            </a:extLst>
          </p:cNvPr>
          <p:cNvSpPr txBox="1"/>
          <p:nvPr/>
        </p:nvSpPr>
        <p:spPr>
          <a:xfrm>
            <a:off x="18872518" y="4484822"/>
            <a:ext cx="18679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Vérification des différentes touches </a:t>
            </a:r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B5E28DDF-3B02-E501-DD82-0B0037D4A24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8929755" y="2581115"/>
            <a:ext cx="3200847" cy="533474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08C67E85-05F6-4F77-4A36-ED82C85C57F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1526966" y="3191413"/>
            <a:ext cx="3038899" cy="533474"/>
          </a:xfrm>
          <a:prstGeom prst="rect">
            <a:avLst/>
          </a:prstGeom>
        </p:spPr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BD45BEA0-12BD-4CE9-0F8B-41A21326AD78}"/>
              </a:ext>
            </a:extLst>
          </p:cNvPr>
          <p:cNvSpPr txBox="1"/>
          <p:nvPr/>
        </p:nvSpPr>
        <p:spPr>
          <a:xfrm>
            <a:off x="19179543" y="3100106"/>
            <a:ext cx="26178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Ajout ou enlèvement d’une valeur de touche</a:t>
            </a:r>
          </a:p>
        </p:txBody>
      </p:sp>
    </p:spTree>
    <p:extLst>
      <p:ext uri="{BB962C8B-B14F-4D97-AF65-F5344CB8AC3E}">
        <p14:creationId xmlns:p14="http://schemas.microsoft.com/office/powerpoint/2010/main" val="42706476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>
            <a:extLst>
              <a:ext uri="{FF2B5EF4-FFF2-40B4-BE49-F238E27FC236}">
                <a16:creationId xmlns:a16="http://schemas.microsoft.com/office/drawing/2014/main" id="{2BF97BF5-05AF-3700-EEB3-2B356F617D73}"/>
              </a:ext>
            </a:extLst>
          </p:cNvPr>
          <p:cNvSpPr txBox="1"/>
          <p:nvPr/>
        </p:nvSpPr>
        <p:spPr>
          <a:xfrm>
            <a:off x="3594797" y="163690"/>
            <a:ext cx="47031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Harlow Solid Italic" panose="04030604020F02020D02" pitchFamily="82" charset="0"/>
              </a:rPr>
              <a:t>Collisions et </a:t>
            </a:r>
            <a:r>
              <a:rPr lang="fr-FR" sz="4400" dirty="0" err="1">
                <a:latin typeface="Harlow Solid Italic" panose="04030604020F02020D02" pitchFamily="82" charset="0"/>
              </a:rPr>
              <a:t>hitboxes</a:t>
            </a:r>
            <a:endParaRPr lang="fr-FR" sz="4400" dirty="0">
              <a:latin typeface="Harlow Solid Italic" panose="04030604020F02020D02" pitchFamily="82" charset="0"/>
            </a:endParaRP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DBC95B8B-3C24-0DB3-2E2A-786BC07CD2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418" y="1402602"/>
            <a:ext cx="5747657" cy="223282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FA209F1-1111-2BC7-C819-6F375C2B6E01}"/>
              </a:ext>
            </a:extLst>
          </p:cNvPr>
          <p:cNvSpPr/>
          <p:nvPr/>
        </p:nvSpPr>
        <p:spPr>
          <a:xfrm>
            <a:off x="223448" y="1174882"/>
            <a:ext cx="11412134" cy="3193918"/>
          </a:xfrm>
          <a:prstGeom prst="rect">
            <a:avLst/>
          </a:prstGeom>
          <a:noFill/>
          <a:ln w="2857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ED9CF3-3CAE-254D-29CA-DB78EDF138EA}"/>
              </a:ext>
            </a:extLst>
          </p:cNvPr>
          <p:cNvSpPr/>
          <p:nvPr/>
        </p:nvSpPr>
        <p:spPr>
          <a:xfrm>
            <a:off x="5946369" y="3162631"/>
            <a:ext cx="5955733" cy="34846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EB1F1F95-A180-0BDA-C785-CC59EA2F8DAA}"/>
              </a:ext>
            </a:extLst>
          </p:cNvPr>
          <p:cNvSpPr txBox="1"/>
          <p:nvPr/>
        </p:nvSpPr>
        <p:spPr>
          <a:xfrm>
            <a:off x="556418" y="3796803"/>
            <a:ext cx="53899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Actualisation des </a:t>
            </a:r>
            <a:r>
              <a:rPr lang="fr-FR" sz="2000" dirty="0" err="1">
                <a:latin typeface="Harlow Solid Italic" panose="04030604020F02020D02" pitchFamily="82" charset="0"/>
              </a:rPr>
              <a:t>hitboxes</a:t>
            </a:r>
            <a:r>
              <a:rPr lang="fr-FR" sz="2000" dirty="0">
                <a:latin typeface="Harlow Solid Italic" panose="04030604020F02020D02" pitchFamily="82" charset="0"/>
              </a:rPr>
              <a:t> du joueur et des monstres </a:t>
            </a:r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2466D85A-6854-422A-6728-68BCA0834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745" y="3828964"/>
            <a:ext cx="1884241" cy="2140180"/>
          </a:xfrm>
          <a:prstGeom prst="rect">
            <a:avLst/>
          </a:prstGeom>
        </p:spPr>
      </p:pic>
      <p:pic>
        <p:nvPicPr>
          <p:cNvPr id="34" name="Image 33">
            <a:extLst>
              <a:ext uri="{FF2B5EF4-FFF2-40B4-BE49-F238E27FC236}">
                <a16:creationId xmlns:a16="http://schemas.microsoft.com/office/drawing/2014/main" id="{FA30F7CC-7BFB-9AF8-9CCD-2C1BDC0022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5983" y="3463555"/>
            <a:ext cx="2879599" cy="666495"/>
          </a:xfrm>
          <a:prstGeom prst="rect">
            <a:avLst/>
          </a:prstGeom>
        </p:spPr>
      </p:pic>
      <p:pic>
        <p:nvPicPr>
          <p:cNvPr id="36" name="Image 35">
            <a:extLst>
              <a:ext uri="{FF2B5EF4-FFF2-40B4-BE49-F238E27FC236}">
                <a16:creationId xmlns:a16="http://schemas.microsoft.com/office/drawing/2014/main" id="{EB6B1027-0582-2D7C-AE0B-33FD085E29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5983" y="5685950"/>
            <a:ext cx="2879599" cy="168398"/>
          </a:xfrm>
          <a:prstGeom prst="rect">
            <a:avLst/>
          </a:prstGeom>
        </p:spPr>
      </p:pic>
      <p:sp>
        <p:nvSpPr>
          <p:cNvPr id="39" name="ZoneTexte 38">
            <a:extLst>
              <a:ext uri="{FF2B5EF4-FFF2-40B4-BE49-F238E27FC236}">
                <a16:creationId xmlns:a16="http://schemas.microsoft.com/office/drawing/2014/main" id="{B1842E14-E954-B4B9-962D-46CB0C1F1564}"/>
              </a:ext>
            </a:extLst>
          </p:cNvPr>
          <p:cNvSpPr txBox="1"/>
          <p:nvPr/>
        </p:nvSpPr>
        <p:spPr>
          <a:xfrm>
            <a:off x="8940606" y="4692962"/>
            <a:ext cx="2694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Deux types de collisions</a:t>
            </a:r>
          </a:p>
        </p:txBody>
      </p:sp>
      <p:cxnSp>
        <p:nvCxnSpPr>
          <p:cNvPr id="41" name="Connecteur : en arc 40">
            <a:extLst>
              <a:ext uri="{FF2B5EF4-FFF2-40B4-BE49-F238E27FC236}">
                <a16:creationId xmlns:a16="http://schemas.microsoft.com/office/drawing/2014/main" id="{7AA49B19-9C64-801B-1D6F-14D1F54ED9D6}"/>
              </a:ext>
            </a:extLst>
          </p:cNvPr>
          <p:cNvCxnSpPr>
            <a:cxnSpLocks/>
            <a:stCxn id="27" idx="3"/>
            <a:endCxn id="34" idx="1"/>
          </p:cNvCxnSpPr>
          <p:nvPr/>
        </p:nvCxnSpPr>
        <p:spPr>
          <a:xfrm flipV="1">
            <a:off x="8078986" y="3796803"/>
            <a:ext cx="676997" cy="1102251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 : en arc 46">
            <a:extLst>
              <a:ext uri="{FF2B5EF4-FFF2-40B4-BE49-F238E27FC236}">
                <a16:creationId xmlns:a16="http://schemas.microsoft.com/office/drawing/2014/main" id="{9E3BA8E8-75EC-437F-8EE1-9E547F1CCC24}"/>
              </a:ext>
            </a:extLst>
          </p:cNvPr>
          <p:cNvCxnSpPr>
            <a:cxnSpLocks/>
            <a:stCxn id="27" idx="3"/>
            <a:endCxn id="36" idx="1"/>
          </p:cNvCxnSpPr>
          <p:nvPr/>
        </p:nvCxnSpPr>
        <p:spPr>
          <a:xfrm>
            <a:off x="8078986" y="4899054"/>
            <a:ext cx="676997" cy="871095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Image 50">
            <a:extLst>
              <a:ext uri="{FF2B5EF4-FFF2-40B4-BE49-F238E27FC236}">
                <a16:creationId xmlns:a16="http://schemas.microsoft.com/office/drawing/2014/main" id="{AB0927D3-1DDE-6D98-E55F-3CDFADB5EC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0458" y="1703153"/>
            <a:ext cx="2061340" cy="1111735"/>
          </a:xfrm>
          <a:prstGeom prst="rect">
            <a:avLst/>
          </a:prstGeom>
        </p:spPr>
      </p:pic>
      <p:cxnSp>
        <p:nvCxnSpPr>
          <p:cNvPr id="53" name="Connecteur droit avec flèche 52">
            <a:extLst>
              <a:ext uri="{FF2B5EF4-FFF2-40B4-BE49-F238E27FC236}">
                <a16:creationId xmlns:a16="http://schemas.microsoft.com/office/drawing/2014/main" id="{5885F888-6D2E-F389-A2F9-CBBAA8414BC9}"/>
              </a:ext>
            </a:extLst>
          </p:cNvPr>
          <p:cNvCxnSpPr>
            <a:cxnSpLocks/>
            <a:endCxn id="51" idx="1"/>
          </p:cNvCxnSpPr>
          <p:nvPr/>
        </p:nvCxnSpPr>
        <p:spPr>
          <a:xfrm flipV="1">
            <a:off x="6304075" y="2259021"/>
            <a:ext cx="1876383" cy="2647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ZoneTexte 66">
            <a:extLst>
              <a:ext uri="{FF2B5EF4-FFF2-40B4-BE49-F238E27FC236}">
                <a16:creationId xmlns:a16="http://schemas.microsoft.com/office/drawing/2014/main" id="{E3984A5F-B681-3168-7995-EAF86B97A57E}"/>
              </a:ext>
            </a:extLst>
          </p:cNvPr>
          <p:cNvSpPr txBox="1"/>
          <p:nvPr/>
        </p:nvSpPr>
        <p:spPr>
          <a:xfrm>
            <a:off x="3617688" y="-3800843"/>
            <a:ext cx="57476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Harlow Solid Italic" panose="04030604020F02020D02" pitchFamily="82" charset="0"/>
              </a:rPr>
              <a:t>Monstres et Plateformes</a:t>
            </a:r>
          </a:p>
        </p:txBody>
      </p:sp>
      <p:pic>
        <p:nvPicPr>
          <p:cNvPr id="68" name="Image 67">
            <a:extLst>
              <a:ext uri="{FF2B5EF4-FFF2-40B4-BE49-F238E27FC236}">
                <a16:creationId xmlns:a16="http://schemas.microsoft.com/office/drawing/2014/main" id="{15633235-9260-0DB8-9DEA-BDAEC68E33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7180348" y="1231741"/>
            <a:ext cx="2758475" cy="2581850"/>
          </a:xfrm>
          <a:prstGeom prst="rect">
            <a:avLst/>
          </a:prstGeom>
        </p:spPr>
      </p:pic>
      <p:pic>
        <p:nvPicPr>
          <p:cNvPr id="69" name="Image 68">
            <a:extLst>
              <a:ext uri="{FF2B5EF4-FFF2-40B4-BE49-F238E27FC236}">
                <a16:creationId xmlns:a16="http://schemas.microsoft.com/office/drawing/2014/main" id="{415A263E-F3E1-C525-A441-433DE8D794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218134" y="2537958"/>
            <a:ext cx="2689585" cy="2391324"/>
          </a:xfrm>
          <a:prstGeom prst="rect">
            <a:avLst/>
          </a:prstGeom>
        </p:spPr>
      </p:pic>
      <p:sp>
        <p:nvSpPr>
          <p:cNvPr id="70" name="ZoneTexte 69">
            <a:extLst>
              <a:ext uri="{FF2B5EF4-FFF2-40B4-BE49-F238E27FC236}">
                <a16:creationId xmlns:a16="http://schemas.microsoft.com/office/drawing/2014/main" id="{E81D2EC8-322E-892D-5FE5-C0802A9B269E}"/>
              </a:ext>
            </a:extLst>
          </p:cNvPr>
          <p:cNvSpPr txBox="1"/>
          <p:nvPr/>
        </p:nvSpPr>
        <p:spPr>
          <a:xfrm>
            <a:off x="-7337862" y="3796802"/>
            <a:ext cx="3061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Class Cat (premier monstre)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391E2F34-940D-EC75-2AB1-8FF42D155CFA}"/>
              </a:ext>
            </a:extLst>
          </p:cNvPr>
          <p:cNvSpPr txBox="1"/>
          <p:nvPr/>
        </p:nvSpPr>
        <p:spPr>
          <a:xfrm>
            <a:off x="-4266075" y="2195412"/>
            <a:ext cx="3061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Class Bob (second monstre)</a:t>
            </a:r>
          </a:p>
        </p:txBody>
      </p:sp>
      <p:pic>
        <p:nvPicPr>
          <p:cNvPr id="72" name="Image 71">
            <a:extLst>
              <a:ext uri="{FF2B5EF4-FFF2-40B4-BE49-F238E27FC236}">
                <a16:creationId xmlns:a16="http://schemas.microsoft.com/office/drawing/2014/main" id="{93CECB34-9104-DFE3-7B56-227F177AD94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050583" y="3162631"/>
            <a:ext cx="2791215" cy="752580"/>
          </a:xfrm>
          <a:prstGeom prst="rect">
            <a:avLst/>
          </a:prstGeom>
        </p:spPr>
      </p:pic>
      <p:pic>
        <p:nvPicPr>
          <p:cNvPr id="73" name="Image 72">
            <a:extLst>
              <a:ext uri="{FF2B5EF4-FFF2-40B4-BE49-F238E27FC236}">
                <a16:creationId xmlns:a16="http://schemas.microsoft.com/office/drawing/2014/main" id="{E9CD9179-F1D2-3D8F-F032-9E0FEE80CFF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40794" y="4374790"/>
            <a:ext cx="3238952" cy="733527"/>
          </a:xfrm>
          <a:prstGeom prst="rect">
            <a:avLst/>
          </a:prstGeom>
        </p:spPr>
      </p:pic>
      <p:pic>
        <p:nvPicPr>
          <p:cNvPr id="74" name="Image 73">
            <a:extLst>
              <a:ext uri="{FF2B5EF4-FFF2-40B4-BE49-F238E27FC236}">
                <a16:creationId xmlns:a16="http://schemas.microsoft.com/office/drawing/2014/main" id="{068799D4-EA23-02C0-3FBD-3B7DA261422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526635" y="5492347"/>
            <a:ext cx="3315163" cy="724001"/>
          </a:xfrm>
          <a:prstGeom prst="rect">
            <a:avLst/>
          </a:prstGeom>
        </p:spPr>
      </p:pic>
      <p:sp>
        <p:nvSpPr>
          <p:cNvPr id="75" name="ZoneTexte 74">
            <a:extLst>
              <a:ext uri="{FF2B5EF4-FFF2-40B4-BE49-F238E27FC236}">
                <a16:creationId xmlns:a16="http://schemas.microsoft.com/office/drawing/2014/main" id="{72BCA29D-5B32-A7B0-5E84-C002BEB7ECA9}"/>
              </a:ext>
            </a:extLst>
          </p:cNvPr>
          <p:cNvSpPr txBox="1"/>
          <p:nvPr/>
        </p:nvSpPr>
        <p:spPr>
          <a:xfrm>
            <a:off x="14379768" y="2654991"/>
            <a:ext cx="26708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3 types de plateformes :</a:t>
            </a:r>
          </a:p>
        </p:txBody>
      </p:sp>
      <p:sp>
        <p:nvSpPr>
          <p:cNvPr id="76" name="ZoneTexte 75">
            <a:extLst>
              <a:ext uri="{FF2B5EF4-FFF2-40B4-BE49-F238E27FC236}">
                <a16:creationId xmlns:a16="http://schemas.microsoft.com/office/drawing/2014/main" id="{5B07BABA-7735-8DBA-7D48-7786AF401674}"/>
              </a:ext>
            </a:extLst>
          </p:cNvPr>
          <p:cNvSpPr txBox="1"/>
          <p:nvPr/>
        </p:nvSpPr>
        <p:spPr>
          <a:xfrm>
            <a:off x="17003591" y="2791303"/>
            <a:ext cx="12604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Classiques</a:t>
            </a:r>
          </a:p>
        </p:txBody>
      </p:sp>
      <p:sp>
        <p:nvSpPr>
          <p:cNvPr id="77" name="ZoneTexte 76">
            <a:extLst>
              <a:ext uri="{FF2B5EF4-FFF2-40B4-BE49-F238E27FC236}">
                <a16:creationId xmlns:a16="http://schemas.microsoft.com/office/drawing/2014/main" id="{BED10507-BCA3-AC75-1C5B-F9D9586A29E2}"/>
              </a:ext>
            </a:extLst>
          </p:cNvPr>
          <p:cNvSpPr txBox="1"/>
          <p:nvPr/>
        </p:nvSpPr>
        <p:spPr>
          <a:xfrm>
            <a:off x="14440794" y="3974680"/>
            <a:ext cx="18785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Rebondissantes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237A8138-70FC-0212-FCE5-D716B1EA75A1}"/>
              </a:ext>
            </a:extLst>
          </p:cNvPr>
          <p:cNvSpPr txBox="1"/>
          <p:nvPr/>
        </p:nvSpPr>
        <p:spPr>
          <a:xfrm>
            <a:off x="18634436" y="5156839"/>
            <a:ext cx="18785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Mouvant</a:t>
            </a:r>
          </a:p>
        </p:txBody>
      </p:sp>
      <p:pic>
        <p:nvPicPr>
          <p:cNvPr id="79" name="Image 78">
            <a:extLst>
              <a:ext uri="{FF2B5EF4-FFF2-40B4-BE49-F238E27FC236}">
                <a16:creationId xmlns:a16="http://schemas.microsoft.com/office/drawing/2014/main" id="{AAEE813B-B3D8-092B-E82B-55162525A8F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4789795" y="1631701"/>
            <a:ext cx="3445366" cy="1416300"/>
          </a:xfrm>
          <a:prstGeom prst="rect">
            <a:avLst/>
          </a:prstGeom>
        </p:spPr>
      </p:pic>
      <p:sp>
        <p:nvSpPr>
          <p:cNvPr id="80" name="ZoneTexte 79">
            <a:extLst>
              <a:ext uri="{FF2B5EF4-FFF2-40B4-BE49-F238E27FC236}">
                <a16:creationId xmlns:a16="http://schemas.microsoft.com/office/drawing/2014/main" id="{6B383E34-7097-78A3-5CFD-D0B2FD4FFE1B}"/>
              </a:ext>
            </a:extLst>
          </p:cNvPr>
          <p:cNvSpPr txBox="1"/>
          <p:nvPr/>
        </p:nvSpPr>
        <p:spPr>
          <a:xfrm>
            <a:off x="3929614" y="-3350462"/>
            <a:ext cx="43327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 err="1">
                <a:latin typeface="Harlow Solid Italic" panose="04030604020F02020D02" pitchFamily="82" charset="0"/>
              </a:rPr>
              <a:t>Spawns</a:t>
            </a:r>
            <a:r>
              <a:rPr lang="fr-FR" sz="4400" dirty="0">
                <a:latin typeface="Harlow Solid Italic" panose="04030604020F02020D02" pitchFamily="82" charset="0"/>
              </a:rPr>
              <a:t> et </a:t>
            </a:r>
            <a:r>
              <a:rPr lang="fr-FR" sz="4400" dirty="0" err="1">
                <a:latin typeface="Harlow Solid Italic" panose="04030604020F02020D02" pitchFamily="82" charset="0"/>
              </a:rPr>
              <a:t>removes</a:t>
            </a:r>
            <a:endParaRPr lang="fr-FR" sz="4400" dirty="0">
              <a:latin typeface="Harlow Solid Italic" panose="04030604020F02020D02" pitchFamily="82" charset="0"/>
            </a:endParaRPr>
          </a:p>
        </p:txBody>
      </p:sp>
      <p:pic>
        <p:nvPicPr>
          <p:cNvPr id="81" name="Image 80">
            <a:extLst>
              <a:ext uri="{FF2B5EF4-FFF2-40B4-BE49-F238E27FC236}">
                <a16:creationId xmlns:a16="http://schemas.microsoft.com/office/drawing/2014/main" id="{74BEAA7C-C9E0-A256-62A5-FDE1187CB86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7266013" y="2544921"/>
            <a:ext cx="2441198" cy="1768157"/>
          </a:xfrm>
          <a:prstGeom prst="rect">
            <a:avLst/>
          </a:prstGeom>
        </p:spPr>
      </p:pic>
      <p:sp>
        <p:nvSpPr>
          <p:cNvPr id="82" name="ZoneTexte 81">
            <a:extLst>
              <a:ext uri="{FF2B5EF4-FFF2-40B4-BE49-F238E27FC236}">
                <a16:creationId xmlns:a16="http://schemas.microsoft.com/office/drawing/2014/main" id="{6C6CC570-E401-DA0F-1120-97419B942EA7}"/>
              </a:ext>
            </a:extLst>
          </p:cNvPr>
          <p:cNvSpPr txBox="1"/>
          <p:nvPr/>
        </p:nvSpPr>
        <p:spPr>
          <a:xfrm>
            <a:off x="-4584705" y="3022449"/>
            <a:ext cx="3066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Exemple de classe de </a:t>
            </a:r>
            <a:r>
              <a:rPr lang="fr-FR" sz="2000" dirty="0" err="1">
                <a:latin typeface="Harlow Solid Italic" panose="04030604020F02020D02" pitchFamily="82" charset="0"/>
              </a:rPr>
              <a:t>spawn</a:t>
            </a:r>
            <a:endParaRPr lang="fr-FR" sz="2000" dirty="0">
              <a:latin typeface="Harlow Solid Italic" panose="04030604020F02020D02" pitchFamily="82" charset="0"/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1312F660-2711-6140-E7D9-0BD657FE34CF}"/>
              </a:ext>
            </a:extLst>
          </p:cNvPr>
          <p:cNvSpPr txBox="1"/>
          <p:nvPr/>
        </p:nvSpPr>
        <p:spPr>
          <a:xfrm>
            <a:off x="-7295399" y="1931556"/>
            <a:ext cx="26035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Fichiers de </a:t>
            </a:r>
            <a:r>
              <a:rPr lang="fr-FR" sz="2000" dirty="0" err="1">
                <a:latin typeface="Harlow Solid Italic" panose="04030604020F02020D02" pitchFamily="82" charset="0"/>
              </a:rPr>
              <a:t>spawns</a:t>
            </a:r>
            <a:r>
              <a:rPr lang="fr-FR" sz="2000" dirty="0">
                <a:latin typeface="Harlow Solid Italic" panose="04030604020F02020D02" pitchFamily="82" charset="0"/>
              </a:rPr>
              <a:t> des différents éléments</a:t>
            </a:r>
          </a:p>
        </p:txBody>
      </p:sp>
      <p:pic>
        <p:nvPicPr>
          <p:cNvPr id="84" name="Image 83">
            <a:extLst>
              <a:ext uri="{FF2B5EF4-FFF2-40B4-BE49-F238E27FC236}">
                <a16:creationId xmlns:a16="http://schemas.microsoft.com/office/drawing/2014/main" id="{918ACD3D-FEEE-CB7C-D377-2931B66F7EB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062866" y="3236011"/>
            <a:ext cx="2252506" cy="1799740"/>
          </a:xfrm>
          <a:prstGeom prst="rect">
            <a:avLst/>
          </a:prstGeom>
        </p:spPr>
      </p:pic>
      <p:sp>
        <p:nvSpPr>
          <p:cNvPr id="85" name="ZoneTexte 84">
            <a:extLst>
              <a:ext uri="{FF2B5EF4-FFF2-40B4-BE49-F238E27FC236}">
                <a16:creationId xmlns:a16="http://schemas.microsoft.com/office/drawing/2014/main" id="{83A42AE0-5DDD-270D-92BC-29830BBE59A1}"/>
              </a:ext>
            </a:extLst>
          </p:cNvPr>
          <p:cNvSpPr txBox="1"/>
          <p:nvPr/>
        </p:nvSpPr>
        <p:spPr>
          <a:xfrm>
            <a:off x="12900297" y="5054240"/>
            <a:ext cx="24986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Fichiers de </a:t>
            </a:r>
            <a:r>
              <a:rPr lang="fr-FR" sz="2000" dirty="0" err="1">
                <a:latin typeface="Harlow Solid Italic" panose="04030604020F02020D02" pitchFamily="82" charset="0"/>
              </a:rPr>
              <a:t>removes</a:t>
            </a:r>
            <a:r>
              <a:rPr lang="fr-FR" sz="2000" dirty="0">
                <a:latin typeface="Harlow Solid Italic" panose="04030604020F02020D02" pitchFamily="82" charset="0"/>
              </a:rPr>
              <a:t> des différents éléments</a:t>
            </a:r>
          </a:p>
        </p:txBody>
      </p:sp>
      <p:pic>
        <p:nvPicPr>
          <p:cNvPr id="86" name="Image 85">
            <a:extLst>
              <a:ext uri="{FF2B5EF4-FFF2-40B4-BE49-F238E27FC236}">
                <a16:creationId xmlns:a16="http://schemas.microsoft.com/office/drawing/2014/main" id="{016D1D81-0140-0B45-143B-7D4295B3D47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354981" y="5041385"/>
            <a:ext cx="3486637" cy="1457528"/>
          </a:xfrm>
          <a:prstGeom prst="rect">
            <a:avLst/>
          </a:prstGeom>
        </p:spPr>
      </p:pic>
      <p:sp>
        <p:nvSpPr>
          <p:cNvPr id="87" name="ZoneTexte 86">
            <a:extLst>
              <a:ext uri="{FF2B5EF4-FFF2-40B4-BE49-F238E27FC236}">
                <a16:creationId xmlns:a16="http://schemas.microsoft.com/office/drawing/2014/main" id="{F7AE6659-EAC4-22DF-2D0B-98040ACCB7C7}"/>
              </a:ext>
            </a:extLst>
          </p:cNvPr>
          <p:cNvSpPr txBox="1"/>
          <p:nvPr/>
        </p:nvSpPr>
        <p:spPr>
          <a:xfrm>
            <a:off x="15521485" y="4654130"/>
            <a:ext cx="3066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Exemple de classe de </a:t>
            </a:r>
            <a:r>
              <a:rPr lang="fr-FR" sz="2000" dirty="0" err="1">
                <a:latin typeface="Harlow Solid Italic" panose="04030604020F02020D02" pitchFamily="82" charset="0"/>
              </a:rPr>
              <a:t>remove</a:t>
            </a:r>
            <a:endParaRPr lang="fr-FR" sz="2000" dirty="0">
              <a:latin typeface="Harlow Solid Italic" panose="04030604020F02020D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4395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>
            <a:extLst>
              <a:ext uri="{FF2B5EF4-FFF2-40B4-BE49-F238E27FC236}">
                <a16:creationId xmlns:a16="http://schemas.microsoft.com/office/drawing/2014/main" id="{2BF97BF5-05AF-3700-EEB3-2B356F617D73}"/>
              </a:ext>
            </a:extLst>
          </p:cNvPr>
          <p:cNvSpPr txBox="1"/>
          <p:nvPr/>
        </p:nvSpPr>
        <p:spPr>
          <a:xfrm>
            <a:off x="3594797" y="-3116540"/>
            <a:ext cx="47031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Harlow Solid Italic" panose="04030604020F02020D02" pitchFamily="82" charset="0"/>
              </a:rPr>
              <a:t>Collisions et </a:t>
            </a:r>
            <a:r>
              <a:rPr lang="fr-FR" sz="4400" dirty="0" err="1">
                <a:latin typeface="Harlow Solid Italic" panose="04030604020F02020D02" pitchFamily="82" charset="0"/>
              </a:rPr>
              <a:t>hitboxes</a:t>
            </a:r>
            <a:endParaRPr lang="fr-FR" sz="4400" dirty="0">
              <a:latin typeface="Harlow Solid Italic" panose="04030604020F02020D02" pitchFamily="8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A209F1-1111-2BC7-C819-6F375C2B6E01}"/>
              </a:ext>
            </a:extLst>
          </p:cNvPr>
          <p:cNvSpPr/>
          <p:nvPr/>
        </p:nvSpPr>
        <p:spPr>
          <a:xfrm>
            <a:off x="223448" y="1174882"/>
            <a:ext cx="6080627" cy="3193918"/>
          </a:xfrm>
          <a:prstGeom prst="rect">
            <a:avLst/>
          </a:prstGeom>
          <a:noFill/>
          <a:ln w="2857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ED9CF3-3CAE-254D-29CA-DB78EDF138EA}"/>
              </a:ext>
            </a:extLst>
          </p:cNvPr>
          <p:cNvSpPr/>
          <p:nvPr/>
        </p:nvSpPr>
        <p:spPr>
          <a:xfrm>
            <a:off x="5946369" y="3162631"/>
            <a:ext cx="5955733" cy="34846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EB1F1F95-A180-0BDA-C785-CC59EA2F8DAA}"/>
              </a:ext>
            </a:extLst>
          </p:cNvPr>
          <p:cNvSpPr txBox="1"/>
          <p:nvPr/>
        </p:nvSpPr>
        <p:spPr>
          <a:xfrm>
            <a:off x="-11867821" y="3796803"/>
            <a:ext cx="53899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Actualisation des </a:t>
            </a:r>
            <a:r>
              <a:rPr lang="fr-FR" sz="2000" dirty="0" err="1">
                <a:latin typeface="Harlow Solid Italic" panose="04030604020F02020D02" pitchFamily="82" charset="0"/>
              </a:rPr>
              <a:t>hitboxes</a:t>
            </a:r>
            <a:r>
              <a:rPr lang="fr-FR" sz="2000" dirty="0">
                <a:latin typeface="Harlow Solid Italic" panose="04030604020F02020D02" pitchFamily="82" charset="0"/>
              </a:rPr>
              <a:t> du joueur et des monstres </a:t>
            </a:r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2466D85A-6854-422A-6728-68BCA0834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7268" y="3828964"/>
            <a:ext cx="1884241" cy="2140180"/>
          </a:xfrm>
          <a:prstGeom prst="rect">
            <a:avLst/>
          </a:prstGeom>
        </p:spPr>
      </p:pic>
      <p:pic>
        <p:nvPicPr>
          <p:cNvPr id="34" name="Image 33">
            <a:extLst>
              <a:ext uri="{FF2B5EF4-FFF2-40B4-BE49-F238E27FC236}">
                <a16:creationId xmlns:a16="http://schemas.microsoft.com/office/drawing/2014/main" id="{FA30F7CC-7BFB-9AF8-9CCD-2C1BDC002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8506" y="3463555"/>
            <a:ext cx="2879599" cy="666495"/>
          </a:xfrm>
          <a:prstGeom prst="rect">
            <a:avLst/>
          </a:prstGeom>
        </p:spPr>
      </p:pic>
      <p:pic>
        <p:nvPicPr>
          <p:cNvPr id="36" name="Image 35">
            <a:extLst>
              <a:ext uri="{FF2B5EF4-FFF2-40B4-BE49-F238E27FC236}">
                <a16:creationId xmlns:a16="http://schemas.microsoft.com/office/drawing/2014/main" id="{EB6B1027-0582-2D7C-AE0B-33FD085E29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38506" y="5685950"/>
            <a:ext cx="2879599" cy="168398"/>
          </a:xfrm>
          <a:prstGeom prst="rect">
            <a:avLst/>
          </a:prstGeom>
        </p:spPr>
      </p:pic>
      <p:sp>
        <p:nvSpPr>
          <p:cNvPr id="39" name="ZoneTexte 38">
            <a:extLst>
              <a:ext uri="{FF2B5EF4-FFF2-40B4-BE49-F238E27FC236}">
                <a16:creationId xmlns:a16="http://schemas.microsoft.com/office/drawing/2014/main" id="{B1842E14-E954-B4B9-962D-46CB0C1F1564}"/>
              </a:ext>
            </a:extLst>
          </p:cNvPr>
          <p:cNvSpPr txBox="1"/>
          <p:nvPr/>
        </p:nvSpPr>
        <p:spPr>
          <a:xfrm>
            <a:off x="19623129" y="4692962"/>
            <a:ext cx="2694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Deux types de collisions</a:t>
            </a:r>
          </a:p>
        </p:txBody>
      </p:sp>
      <p:cxnSp>
        <p:nvCxnSpPr>
          <p:cNvPr id="41" name="Connecteur : en arc 40">
            <a:extLst>
              <a:ext uri="{FF2B5EF4-FFF2-40B4-BE49-F238E27FC236}">
                <a16:creationId xmlns:a16="http://schemas.microsoft.com/office/drawing/2014/main" id="{7AA49B19-9C64-801B-1D6F-14D1F54ED9D6}"/>
              </a:ext>
            </a:extLst>
          </p:cNvPr>
          <p:cNvCxnSpPr>
            <a:cxnSpLocks/>
            <a:stCxn id="27" idx="3"/>
            <a:endCxn id="34" idx="1"/>
          </p:cNvCxnSpPr>
          <p:nvPr/>
        </p:nvCxnSpPr>
        <p:spPr>
          <a:xfrm flipV="1">
            <a:off x="18761509" y="3796803"/>
            <a:ext cx="676997" cy="1102251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 : en arc 46">
            <a:extLst>
              <a:ext uri="{FF2B5EF4-FFF2-40B4-BE49-F238E27FC236}">
                <a16:creationId xmlns:a16="http://schemas.microsoft.com/office/drawing/2014/main" id="{9E3BA8E8-75EC-437F-8EE1-9E547F1CCC24}"/>
              </a:ext>
            </a:extLst>
          </p:cNvPr>
          <p:cNvCxnSpPr>
            <a:cxnSpLocks/>
            <a:stCxn id="27" idx="3"/>
            <a:endCxn id="36" idx="1"/>
          </p:cNvCxnSpPr>
          <p:nvPr/>
        </p:nvCxnSpPr>
        <p:spPr>
          <a:xfrm>
            <a:off x="18761509" y="4899054"/>
            <a:ext cx="676997" cy="871095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Image 50">
            <a:extLst>
              <a:ext uri="{FF2B5EF4-FFF2-40B4-BE49-F238E27FC236}">
                <a16:creationId xmlns:a16="http://schemas.microsoft.com/office/drawing/2014/main" id="{AB0927D3-1DDE-6D98-E55F-3CDFADB5EC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243781" y="1703153"/>
            <a:ext cx="2061340" cy="1111735"/>
          </a:xfrm>
          <a:prstGeom prst="rect">
            <a:avLst/>
          </a:prstGeom>
        </p:spPr>
      </p:pic>
      <p:cxnSp>
        <p:nvCxnSpPr>
          <p:cNvPr id="53" name="Connecteur droit avec flèche 52">
            <a:extLst>
              <a:ext uri="{FF2B5EF4-FFF2-40B4-BE49-F238E27FC236}">
                <a16:creationId xmlns:a16="http://schemas.microsoft.com/office/drawing/2014/main" id="{5885F888-6D2E-F389-A2F9-CBBAA8414BC9}"/>
              </a:ext>
            </a:extLst>
          </p:cNvPr>
          <p:cNvCxnSpPr>
            <a:cxnSpLocks/>
            <a:endCxn id="51" idx="1"/>
          </p:cNvCxnSpPr>
          <p:nvPr/>
        </p:nvCxnSpPr>
        <p:spPr>
          <a:xfrm flipV="1">
            <a:off x="-6120164" y="2259021"/>
            <a:ext cx="1876383" cy="2647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2832F721-A24E-EB26-B26E-C5F62A9B5BE3}"/>
              </a:ext>
            </a:extLst>
          </p:cNvPr>
          <p:cNvSpPr txBox="1"/>
          <p:nvPr/>
        </p:nvSpPr>
        <p:spPr>
          <a:xfrm>
            <a:off x="3929614" y="230938"/>
            <a:ext cx="43327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 err="1">
                <a:latin typeface="Harlow Solid Italic" panose="04030604020F02020D02" pitchFamily="82" charset="0"/>
              </a:rPr>
              <a:t>Spawns</a:t>
            </a:r>
            <a:r>
              <a:rPr lang="fr-FR" sz="4400" dirty="0">
                <a:latin typeface="Harlow Solid Italic" panose="04030604020F02020D02" pitchFamily="82" charset="0"/>
              </a:rPr>
              <a:t> et </a:t>
            </a:r>
            <a:r>
              <a:rPr lang="fr-FR" sz="4400" dirty="0" err="1">
                <a:latin typeface="Harlow Solid Italic" panose="04030604020F02020D02" pitchFamily="82" charset="0"/>
              </a:rPr>
              <a:t>removes</a:t>
            </a:r>
            <a:endParaRPr lang="fr-FR" sz="4400" dirty="0">
              <a:latin typeface="Harlow Solid Italic" panose="04030604020F02020D02" pitchFamily="82" charset="0"/>
            </a:endParaRP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7B21F8D4-46B3-2AF8-FD58-08AB74831C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887" y="2544921"/>
            <a:ext cx="2441198" cy="1768157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6E147F99-B6AA-3EC6-36A3-5836BC216BBA}"/>
              </a:ext>
            </a:extLst>
          </p:cNvPr>
          <p:cNvSpPr txBox="1"/>
          <p:nvPr/>
        </p:nvSpPr>
        <p:spPr>
          <a:xfrm>
            <a:off x="2997195" y="3022449"/>
            <a:ext cx="3066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Exemple de classe de </a:t>
            </a:r>
            <a:r>
              <a:rPr lang="fr-FR" sz="2000" dirty="0" err="1">
                <a:latin typeface="Harlow Solid Italic" panose="04030604020F02020D02" pitchFamily="82" charset="0"/>
              </a:rPr>
              <a:t>spawn</a:t>
            </a:r>
            <a:endParaRPr lang="fr-FR" sz="2000" dirty="0">
              <a:latin typeface="Harlow Solid Italic" panose="04030604020F02020D02" pitchFamily="82" charset="0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5BFE95CA-1CFF-CFF7-352B-2FD2BC3B0AE9}"/>
              </a:ext>
            </a:extLst>
          </p:cNvPr>
          <p:cNvSpPr txBox="1"/>
          <p:nvPr/>
        </p:nvSpPr>
        <p:spPr>
          <a:xfrm>
            <a:off x="286501" y="1931556"/>
            <a:ext cx="26035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Fichiers de </a:t>
            </a:r>
            <a:r>
              <a:rPr lang="fr-FR" sz="2000" dirty="0" err="1">
                <a:latin typeface="Harlow Solid Italic" panose="04030604020F02020D02" pitchFamily="82" charset="0"/>
              </a:rPr>
              <a:t>spawns</a:t>
            </a:r>
            <a:r>
              <a:rPr lang="fr-FR" sz="2000" dirty="0">
                <a:latin typeface="Harlow Solid Italic" panose="04030604020F02020D02" pitchFamily="82" charset="0"/>
              </a:rPr>
              <a:t> des différents éléments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5D67CB78-6616-BC05-C0D7-D99EF0D052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2466" y="3236011"/>
            <a:ext cx="2252506" cy="1799740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1F527450-F98E-2C2C-7971-14B037782797}"/>
              </a:ext>
            </a:extLst>
          </p:cNvPr>
          <p:cNvSpPr txBox="1"/>
          <p:nvPr/>
        </p:nvSpPr>
        <p:spPr>
          <a:xfrm>
            <a:off x="5889897" y="5054240"/>
            <a:ext cx="24986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Fichiers de </a:t>
            </a:r>
            <a:r>
              <a:rPr lang="fr-FR" sz="2000" dirty="0" err="1">
                <a:latin typeface="Harlow Solid Italic" panose="04030604020F02020D02" pitchFamily="82" charset="0"/>
              </a:rPr>
              <a:t>removes</a:t>
            </a:r>
            <a:r>
              <a:rPr lang="fr-FR" sz="2000" dirty="0">
                <a:latin typeface="Harlow Solid Italic" panose="04030604020F02020D02" pitchFamily="82" charset="0"/>
              </a:rPr>
              <a:t> des différents éléments</a:t>
            </a:r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8CBA2210-51D5-58FB-74FA-0DB5F1A700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4581" y="5041385"/>
            <a:ext cx="3486637" cy="1457528"/>
          </a:xfrm>
          <a:prstGeom prst="rect">
            <a:avLst/>
          </a:prstGeom>
        </p:spPr>
      </p:pic>
      <p:sp>
        <p:nvSpPr>
          <p:cNvPr id="28" name="ZoneTexte 27">
            <a:extLst>
              <a:ext uri="{FF2B5EF4-FFF2-40B4-BE49-F238E27FC236}">
                <a16:creationId xmlns:a16="http://schemas.microsoft.com/office/drawing/2014/main" id="{55FA37A4-B61F-4993-8CC7-54F547E45909}"/>
              </a:ext>
            </a:extLst>
          </p:cNvPr>
          <p:cNvSpPr txBox="1"/>
          <p:nvPr/>
        </p:nvSpPr>
        <p:spPr>
          <a:xfrm>
            <a:off x="8511085" y="4654130"/>
            <a:ext cx="3066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Exemple de classe de </a:t>
            </a:r>
            <a:r>
              <a:rPr lang="fr-FR" sz="2000" dirty="0" err="1">
                <a:latin typeface="Harlow Solid Italic" panose="04030604020F02020D02" pitchFamily="82" charset="0"/>
              </a:rPr>
              <a:t>remove</a:t>
            </a:r>
            <a:endParaRPr lang="fr-FR" sz="2000" dirty="0">
              <a:latin typeface="Harlow Solid Italic" panose="04030604020F02020D02" pitchFamily="82" charset="0"/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F02544E6-3724-7CEC-194C-E1D1023461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92105" y="1631701"/>
            <a:ext cx="3445366" cy="14163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66D1F847-EFB0-8D72-4421-ECBAA371E162}"/>
              </a:ext>
            </a:extLst>
          </p:cNvPr>
          <p:cNvSpPr txBox="1"/>
          <p:nvPr/>
        </p:nvSpPr>
        <p:spPr>
          <a:xfrm>
            <a:off x="3447020" y="-4403189"/>
            <a:ext cx="52979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Harlow Solid Italic" panose="04030604020F02020D02" pitchFamily="82" charset="0"/>
              </a:rPr>
              <a:t>Argent, Vies et Score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C5CD45F-0134-D804-20DA-49CC0C694DD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6598505" y="1228473"/>
            <a:ext cx="3078552" cy="1141754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81EDB283-B05A-9FA8-CF35-FA8A72E9A494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b="40390"/>
          <a:stretch/>
        </p:blipFill>
        <p:spPr>
          <a:xfrm>
            <a:off x="-6547706" y="2480137"/>
            <a:ext cx="2840391" cy="75587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E5A3E9AB-A250-6802-7F63-EEBD33BE85A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6547705" y="3491153"/>
            <a:ext cx="5415208" cy="73109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330DC9DD-7B97-62A2-588C-3AB86837F2E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553589" y="3207111"/>
            <a:ext cx="4203097" cy="165433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B0434F9-02CC-14BB-5417-6FE8DCA9226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553589" y="4931330"/>
            <a:ext cx="2440905" cy="1632084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82F9A8A4-1268-CCEA-790D-85C355F9B0B8}"/>
              </a:ext>
            </a:extLst>
          </p:cNvPr>
          <p:cNvSpPr txBox="1"/>
          <p:nvPr/>
        </p:nvSpPr>
        <p:spPr>
          <a:xfrm>
            <a:off x="18840778" y="3236010"/>
            <a:ext cx="16153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Fonction de perte de vie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CEC2551-1C38-34A9-678D-79D49095813C}"/>
              </a:ext>
            </a:extLst>
          </p:cNvPr>
          <p:cNvSpPr txBox="1"/>
          <p:nvPr/>
        </p:nvSpPr>
        <p:spPr>
          <a:xfrm>
            <a:off x="16994494" y="5483250"/>
            <a:ext cx="16236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Classe de Vie et fonction d’affichage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99E97BA-BE4B-E9D2-CD3E-77BEE497465D}"/>
              </a:ext>
            </a:extLst>
          </p:cNvPr>
          <p:cNvSpPr txBox="1"/>
          <p:nvPr/>
        </p:nvSpPr>
        <p:spPr>
          <a:xfrm>
            <a:off x="-3425733" y="1777667"/>
            <a:ext cx="23434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Classe de l’argent et boucles pour ajouter ou enlever de l’argent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95EBB432-F839-9D02-F253-29B4BC94E0D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1863386" y="1402602"/>
            <a:ext cx="5747657" cy="2232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7988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FA209F1-1111-2BC7-C819-6F375C2B6E01}"/>
              </a:ext>
            </a:extLst>
          </p:cNvPr>
          <p:cNvSpPr/>
          <p:nvPr/>
        </p:nvSpPr>
        <p:spPr>
          <a:xfrm>
            <a:off x="223448" y="1174882"/>
            <a:ext cx="6080627" cy="3193918"/>
          </a:xfrm>
          <a:prstGeom prst="rect">
            <a:avLst/>
          </a:prstGeom>
          <a:noFill/>
          <a:ln w="2857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F02544E6-3724-7CEC-194C-E1D102346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89795" y="1631701"/>
            <a:ext cx="3445366" cy="14163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8ED9CF3-3CAE-254D-29CA-DB78EDF138EA}"/>
              </a:ext>
            </a:extLst>
          </p:cNvPr>
          <p:cNvSpPr/>
          <p:nvPr/>
        </p:nvSpPr>
        <p:spPr>
          <a:xfrm>
            <a:off x="5946369" y="3162631"/>
            <a:ext cx="5955733" cy="34846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832F721-A24E-EB26-B26E-C5F62A9B5BE3}"/>
              </a:ext>
            </a:extLst>
          </p:cNvPr>
          <p:cNvSpPr txBox="1"/>
          <p:nvPr/>
        </p:nvSpPr>
        <p:spPr>
          <a:xfrm>
            <a:off x="3929614" y="-3350462"/>
            <a:ext cx="43327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 err="1">
                <a:latin typeface="Harlow Solid Italic" panose="04030604020F02020D02" pitchFamily="82" charset="0"/>
              </a:rPr>
              <a:t>Spawns</a:t>
            </a:r>
            <a:r>
              <a:rPr lang="fr-FR" sz="4400" dirty="0">
                <a:latin typeface="Harlow Solid Italic" panose="04030604020F02020D02" pitchFamily="82" charset="0"/>
              </a:rPr>
              <a:t> et </a:t>
            </a:r>
            <a:r>
              <a:rPr lang="fr-FR" sz="4400" dirty="0" err="1">
                <a:latin typeface="Harlow Solid Italic" panose="04030604020F02020D02" pitchFamily="82" charset="0"/>
              </a:rPr>
              <a:t>removes</a:t>
            </a:r>
            <a:endParaRPr lang="fr-FR" sz="4400" dirty="0">
              <a:latin typeface="Harlow Solid Italic" panose="04030604020F02020D02" pitchFamily="82" charset="0"/>
            </a:endParaRP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7B21F8D4-46B3-2AF8-FD58-08AB74831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266013" y="2544921"/>
            <a:ext cx="2441198" cy="1768157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6E147F99-B6AA-3EC6-36A3-5836BC216BBA}"/>
              </a:ext>
            </a:extLst>
          </p:cNvPr>
          <p:cNvSpPr txBox="1"/>
          <p:nvPr/>
        </p:nvSpPr>
        <p:spPr>
          <a:xfrm>
            <a:off x="-4584705" y="3022449"/>
            <a:ext cx="3066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Exemple de classe de </a:t>
            </a:r>
            <a:r>
              <a:rPr lang="fr-FR" sz="2000" dirty="0" err="1">
                <a:latin typeface="Harlow Solid Italic" panose="04030604020F02020D02" pitchFamily="82" charset="0"/>
              </a:rPr>
              <a:t>spawn</a:t>
            </a:r>
            <a:endParaRPr lang="fr-FR" sz="2000" dirty="0">
              <a:latin typeface="Harlow Solid Italic" panose="04030604020F02020D02" pitchFamily="82" charset="0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5BFE95CA-1CFF-CFF7-352B-2FD2BC3B0AE9}"/>
              </a:ext>
            </a:extLst>
          </p:cNvPr>
          <p:cNvSpPr txBox="1"/>
          <p:nvPr/>
        </p:nvSpPr>
        <p:spPr>
          <a:xfrm>
            <a:off x="-7295399" y="1931556"/>
            <a:ext cx="26035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Fichiers de </a:t>
            </a:r>
            <a:r>
              <a:rPr lang="fr-FR" sz="2000" dirty="0" err="1">
                <a:latin typeface="Harlow Solid Italic" panose="04030604020F02020D02" pitchFamily="82" charset="0"/>
              </a:rPr>
              <a:t>spawns</a:t>
            </a:r>
            <a:r>
              <a:rPr lang="fr-FR" sz="2000" dirty="0">
                <a:latin typeface="Harlow Solid Italic" panose="04030604020F02020D02" pitchFamily="82" charset="0"/>
              </a:rPr>
              <a:t> des différents éléments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5D67CB78-6616-BC05-C0D7-D99EF0D052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62866" y="3236011"/>
            <a:ext cx="2252506" cy="1799740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1F527450-F98E-2C2C-7971-14B037782797}"/>
              </a:ext>
            </a:extLst>
          </p:cNvPr>
          <p:cNvSpPr txBox="1"/>
          <p:nvPr/>
        </p:nvSpPr>
        <p:spPr>
          <a:xfrm>
            <a:off x="12919755" y="5054240"/>
            <a:ext cx="24986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Fichiers de </a:t>
            </a:r>
            <a:r>
              <a:rPr lang="fr-FR" sz="2000" dirty="0" err="1">
                <a:latin typeface="Harlow Solid Italic" panose="04030604020F02020D02" pitchFamily="82" charset="0"/>
              </a:rPr>
              <a:t>removes</a:t>
            </a:r>
            <a:r>
              <a:rPr lang="fr-FR" sz="2000" dirty="0">
                <a:latin typeface="Harlow Solid Italic" panose="04030604020F02020D02" pitchFamily="82" charset="0"/>
              </a:rPr>
              <a:t> des différents éléments</a:t>
            </a:r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8CBA2210-51D5-58FB-74FA-0DB5F1A700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54981" y="5041385"/>
            <a:ext cx="3486637" cy="1457528"/>
          </a:xfrm>
          <a:prstGeom prst="rect">
            <a:avLst/>
          </a:prstGeom>
        </p:spPr>
      </p:pic>
      <p:sp>
        <p:nvSpPr>
          <p:cNvPr id="28" name="ZoneTexte 27">
            <a:extLst>
              <a:ext uri="{FF2B5EF4-FFF2-40B4-BE49-F238E27FC236}">
                <a16:creationId xmlns:a16="http://schemas.microsoft.com/office/drawing/2014/main" id="{55FA37A4-B61F-4993-8CC7-54F547E45909}"/>
              </a:ext>
            </a:extLst>
          </p:cNvPr>
          <p:cNvSpPr txBox="1"/>
          <p:nvPr/>
        </p:nvSpPr>
        <p:spPr>
          <a:xfrm>
            <a:off x="15521485" y="4654130"/>
            <a:ext cx="3066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Exemple de classe de </a:t>
            </a:r>
            <a:r>
              <a:rPr lang="fr-FR" sz="2000" dirty="0" err="1">
                <a:latin typeface="Harlow Solid Italic" panose="04030604020F02020D02" pitchFamily="82" charset="0"/>
              </a:rPr>
              <a:t>remove</a:t>
            </a:r>
            <a:endParaRPr lang="fr-FR" sz="2000" dirty="0">
              <a:latin typeface="Harlow Solid Italic" panose="04030604020F02020D02" pitchFamily="82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683B439D-170F-EC3E-2D3A-64311F8B54AB}"/>
              </a:ext>
            </a:extLst>
          </p:cNvPr>
          <p:cNvSpPr txBox="1"/>
          <p:nvPr/>
        </p:nvSpPr>
        <p:spPr>
          <a:xfrm>
            <a:off x="3447020" y="198309"/>
            <a:ext cx="52979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Harlow Solid Italic" panose="04030604020F02020D02" pitchFamily="82" charset="0"/>
              </a:rPr>
              <a:t>Argent, Vies et Score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B512C43-08FB-DC8E-9117-4F2647CD16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248" y="1228473"/>
            <a:ext cx="3078552" cy="1141754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2216D44C-5811-FE3E-6850-FAE6E5D39E34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40390"/>
          <a:stretch/>
        </p:blipFill>
        <p:spPr>
          <a:xfrm>
            <a:off x="325047" y="2480137"/>
            <a:ext cx="2840391" cy="75587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1542938A-6300-293B-ED3F-DBCFFA5C07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5048" y="3491153"/>
            <a:ext cx="5415208" cy="73109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04BA9E2E-3A18-A71A-7055-6D9E972DA5D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99518" y="3207111"/>
            <a:ext cx="4203097" cy="1654339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EC00F7A2-68F1-E68D-28E7-3098F919C40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99518" y="4931330"/>
            <a:ext cx="2440905" cy="1632084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416FEA8E-BC37-D1D5-6CE4-3A4489CA524D}"/>
              </a:ext>
            </a:extLst>
          </p:cNvPr>
          <p:cNvSpPr txBox="1"/>
          <p:nvPr/>
        </p:nvSpPr>
        <p:spPr>
          <a:xfrm>
            <a:off x="10286707" y="3236010"/>
            <a:ext cx="16153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Fonction de perte de vie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4C662E64-F934-877D-5DA0-429664C843DC}"/>
              </a:ext>
            </a:extLst>
          </p:cNvPr>
          <p:cNvSpPr txBox="1"/>
          <p:nvPr/>
        </p:nvSpPr>
        <p:spPr>
          <a:xfrm>
            <a:off x="8440423" y="5483250"/>
            <a:ext cx="16236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Classe de Vie et fonction d’affichage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FDEE4FF5-E5D5-6BFF-4C1E-1C7613A32AD8}"/>
              </a:ext>
            </a:extLst>
          </p:cNvPr>
          <p:cNvSpPr txBox="1"/>
          <p:nvPr/>
        </p:nvSpPr>
        <p:spPr>
          <a:xfrm>
            <a:off x="3447020" y="1777667"/>
            <a:ext cx="23434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Classe de l’argent et boucles pour ajouter ou enlever de l’argent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FC407CE5-A42B-C41B-859F-CB3604E7BB71}"/>
              </a:ext>
            </a:extLst>
          </p:cNvPr>
          <p:cNvSpPr txBox="1"/>
          <p:nvPr/>
        </p:nvSpPr>
        <p:spPr>
          <a:xfrm>
            <a:off x="3523220" y="-4838700"/>
            <a:ext cx="51455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Harlow Solid Italic" panose="04030604020F02020D02" pitchFamily="82" charset="0"/>
              </a:rPr>
              <a:t>Génération du niveau</a:t>
            </a:r>
          </a:p>
        </p:txBody>
      </p:sp>
      <p:pic>
        <p:nvPicPr>
          <p:cNvPr id="30" name="Image 29">
            <a:extLst>
              <a:ext uri="{FF2B5EF4-FFF2-40B4-BE49-F238E27FC236}">
                <a16:creationId xmlns:a16="http://schemas.microsoft.com/office/drawing/2014/main" id="{E8836FA5-C7EB-D6F5-12D7-A0A730865DF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10219090" y="1335355"/>
            <a:ext cx="4068173" cy="3595975"/>
          </a:xfrm>
          <a:prstGeom prst="rect">
            <a:avLst/>
          </a:prstGeom>
        </p:spPr>
      </p:pic>
      <p:sp>
        <p:nvSpPr>
          <p:cNvPr id="31" name="ZoneTexte 30">
            <a:extLst>
              <a:ext uri="{FF2B5EF4-FFF2-40B4-BE49-F238E27FC236}">
                <a16:creationId xmlns:a16="http://schemas.microsoft.com/office/drawing/2014/main" id="{28F22142-972D-418A-3344-60616157E2BD}"/>
              </a:ext>
            </a:extLst>
          </p:cNvPr>
          <p:cNvSpPr txBox="1"/>
          <p:nvPr/>
        </p:nvSpPr>
        <p:spPr>
          <a:xfrm>
            <a:off x="-6101428" y="1433752"/>
            <a:ext cx="137083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Classe de génération et d’affichage d’un niveau</a:t>
            </a:r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B0FAB6B0-F135-2D6F-57D5-C7155EC82CD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592300" y="3197911"/>
            <a:ext cx="3162300" cy="2663200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3F3BAF58-BC12-CC54-488F-61B7E6AE96F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777230" y="4758988"/>
            <a:ext cx="2701519" cy="1850504"/>
          </a:xfrm>
          <a:prstGeom prst="rect">
            <a:avLst/>
          </a:prstGeom>
        </p:spPr>
      </p:pic>
      <p:sp>
        <p:nvSpPr>
          <p:cNvPr id="34" name="ZoneTexte 33">
            <a:extLst>
              <a:ext uri="{FF2B5EF4-FFF2-40B4-BE49-F238E27FC236}">
                <a16:creationId xmlns:a16="http://schemas.microsoft.com/office/drawing/2014/main" id="{6000750A-25E4-E23C-70E9-27E865FF4B5F}"/>
              </a:ext>
            </a:extLst>
          </p:cNvPr>
          <p:cNvSpPr txBox="1"/>
          <p:nvPr/>
        </p:nvSpPr>
        <p:spPr>
          <a:xfrm>
            <a:off x="14605028" y="5798872"/>
            <a:ext cx="17920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Fonction de premier </a:t>
            </a:r>
            <a:r>
              <a:rPr lang="fr-FR" sz="2000" dirty="0" err="1">
                <a:latin typeface="Harlow Solid Italic" panose="04030604020F02020D02" pitchFamily="82" charset="0"/>
              </a:rPr>
              <a:t>spawn</a:t>
            </a:r>
            <a:endParaRPr lang="fr-FR" sz="2000" dirty="0">
              <a:latin typeface="Harlow Solid Italic" panose="04030604020F02020D02" pitchFamily="82" charset="0"/>
            </a:endParaRP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217C4626-99FC-3D0F-0D31-ECA77C8BBEE8}"/>
              </a:ext>
            </a:extLst>
          </p:cNvPr>
          <p:cNvSpPr txBox="1"/>
          <p:nvPr/>
        </p:nvSpPr>
        <p:spPr>
          <a:xfrm>
            <a:off x="18927405" y="4124845"/>
            <a:ext cx="17920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Génération du niveau 3</a:t>
            </a:r>
          </a:p>
        </p:txBody>
      </p:sp>
      <p:pic>
        <p:nvPicPr>
          <p:cNvPr id="38" name="Image 37">
            <a:extLst>
              <a:ext uri="{FF2B5EF4-FFF2-40B4-BE49-F238E27FC236}">
                <a16:creationId xmlns:a16="http://schemas.microsoft.com/office/drawing/2014/main" id="{99471F2D-8C5A-CC0F-C59A-E04153A7B4A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6862" y="9615745"/>
            <a:ext cx="4745814" cy="1342753"/>
          </a:xfrm>
          <a:prstGeom prst="rect">
            <a:avLst/>
          </a:prstGeom>
        </p:spPr>
      </p:pic>
      <p:sp>
        <p:nvSpPr>
          <p:cNvPr id="39" name="ZoneTexte 38">
            <a:extLst>
              <a:ext uri="{FF2B5EF4-FFF2-40B4-BE49-F238E27FC236}">
                <a16:creationId xmlns:a16="http://schemas.microsoft.com/office/drawing/2014/main" id="{E459FE52-85FD-BE2D-DEF8-3C886347C2F8}"/>
              </a:ext>
            </a:extLst>
          </p:cNvPr>
          <p:cNvSpPr txBox="1"/>
          <p:nvPr/>
        </p:nvSpPr>
        <p:spPr>
          <a:xfrm>
            <a:off x="4473886" y="8809742"/>
            <a:ext cx="17920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Harlow Solid Italic" panose="04030604020F02020D02" pitchFamily="82" charset="0"/>
              </a:rPr>
              <a:t>Fonction d’affichage des éléments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90F1136-95C2-FB10-E6E9-264D7E89CFD9}"/>
              </a:ext>
            </a:extLst>
          </p:cNvPr>
          <p:cNvSpPr txBox="1"/>
          <p:nvPr/>
        </p:nvSpPr>
        <p:spPr>
          <a:xfrm>
            <a:off x="16038940" y="1760575"/>
            <a:ext cx="19437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Affichage des deux </a:t>
            </a:r>
            <a:r>
              <a:rPr lang="fr-FR" sz="2000" dirty="0" err="1">
                <a:latin typeface="Harlow Solid Italic" panose="04030604020F02020D02" pitchFamily="82" charset="0"/>
              </a:rPr>
              <a:t>spawnpoints</a:t>
            </a:r>
            <a:endParaRPr lang="fr-FR" sz="2000" dirty="0">
              <a:latin typeface="Harlow Solid Italic" panose="04030604020F02020D02" pitchFamily="82" charset="0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9119A2F8-1AFA-1784-B69E-11510C8C36B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12578965" y="1214249"/>
            <a:ext cx="4875741" cy="2454683"/>
          </a:xfrm>
          <a:prstGeom prst="rect">
            <a:avLst/>
          </a:prstGeom>
        </p:spPr>
      </p:pic>
      <p:sp>
        <p:nvSpPr>
          <p:cNvPr id="59" name="ZoneTexte 58">
            <a:extLst>
              <a:ext uri="{FF2B5EF4-FFF2-40B4-BE49-F238E27FC236}">
                <a16:creationId xmlns:a16="http://schemas.microsoft.com/office/drawing/2014/main" id="{EF8E6CAA-A508-90FD-DEF1-BB36534EE432}"/>
              </a:ext>
            </a:extLst>
          </p:cNvPr>
          <p:cNvSpPr txBox="1"/>
          <p:nvPr/>
        </p:nvSpPr>
        <p:spPr>
          <a:xfrm>
            <a:off x="5193379" y="-5175704"/>
            <a:ext cx="15059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Harlow Solid Italic" panose="04030604020F02020D02" pitchFamily="82" charset="0"/>
              </a:rPr>
              <a:t>Score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F6F58593-639F-B297-174E-6F006061FB63}"/>
              </a:ext>
            </a:extLst>
          </p:cNvPr>
          <p:cNvSpPr txBox="1"/>
          <p:nvPr/>
        </p:nvSpPr>
        <p:spPr>
          <a:xfrm>
            <a:off x="-7741324" y="1277758"/>
            <a:ext cx="25704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3 fonctions pour ajouter une valeur au score</a:t>
            </a:r>
          </a:p>
        </p:txBody>
      </p:sp>
      <p:pic>
        <p:nvPicPr>
          <p:cNvPr id="61" name="Image 60">
            <a:extLst>
              <a:ext uri="{FF2B5EF4-FFF2-40B4-BE49-F238E27FC236}">
                <a16:creationId xmlns:a16="http://schemas.microsoft.com/office/drawing/2014/main" id="{CB777119-4C03-BF9B-384F-D17F0F90093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-12551845" y="3940052"/>
            <a:ext cx="4303894" cy="2412331"/>
          </a:xfrm>
          <a:prstGeom prst="rect">
            <a:avLst/>
          </a:prstGeom>
        </p:spPr>
      </p:pic>
      <p:pic>
        <p:nvPicPr>
          <p:cNvPr id="62" name="Image 61">
            <a:extLst>
              <a:ext uri="{FF2B5EF4-FFF2-40B4-BE49-F238E27FC236}">
                <a16:creationId xmlns:a16="http://schemas.microsoft.com/office/drawing/2014/main" id="{B090FE37-8548-7CC0-B687-AA4F6660729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-5716571" y="3940052"/>
            <a:ext cx="4303894" cy="2422834"/>
          </a:xfrm>
          <a:prstGeom prst="rect">
            <a:avLst/>
          </a:prstGeom>
        </p:spPr>
      </p:pic>
      <p:sp>
        <p:nvSpPr>
          <p:cNvPr id="63" name="Rectangle 62">
            <a:extLst>
              <a:ext uri="{FF2B5EF4-FFF2-40B4-BE49-F238E27FC236}">
                <a16:creationId xmlns:a16="http://schemas.microsoft.com/office/drawing/2014/main" id="{0B42CBA6-158C-7E45-8DCF-33FE5E83FDDF}"/>
              </a:ext>
            </a:extLst>
          </p:cNvPr>
          <p:cNvSpPr/>
          <p:nvPr/>
        </p:nvSpPr>
        <p:spPr>
          <a:xfrm>
            <a:off x="-8709660" y="3925289"/>
            <a:ext cx="373380" cy="79498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9129A79-552C-EB79-CA41-886733B55500}"/>
              </a:ext>
            </a:extLst>
          </p:cNvPr>
          <p:cNvSpPr/>
          <p:nvPr/>
        </p:nvSpPr>
        <p:spPr>
          <a:xfrm>
            <a:off x="-1869690" y="3925289"/>
            <a:ext cx="373380" cy="79498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5" name="Connecteur droit avec flèche 64">
            <a:extLst>
              <a:ext uri="{FF2B5EF4-FFF2-40B4-BE49-F238E27FC236}">
                <a16:creationId xmlns:a16="http://schemas.microsoft.com/office/drawing/2014/main" id="{CEE59491-20FF-B389-1DA7-2419CE90F8FD}"/>
              </a:ext>
            </a:extLst>
          </p:cNvPr>
          <p:cNvCxnSpPr>
            <a:stCxn id="61" idx="3"/>
            <a:endCxn id="62" idx="1"/>
          </p:cNvCxnSpPr>
          <p:nvPr/>
        </p:nvCxnSpPr>
        <p:spPr>
          <a:xfrm>
            <a:off x="-8247951" y="5146218"/>
            <a:ext cx="2531380" cy="525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6B79D01A-F088-9E6B-1A0D-34109A740F29}"/>
              </a:ext>
            </a:extLst>
          </p:cNvPr>
          <p:cNvSpPr txBox="1"/>
          <p:nvPr/>
        </p:nvSpPr>
        <p:spPr>
          <a:xfrm>
            <a:off x="-7802912" y="4529511"/>
            <a:ext cx="17023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Après avoir tué un monstre</a:t>
            </a:r>
          </a:p>
        </p:txBody>
      </p:sp>
    </p:spTree>
    <p:extLst>
      <p:ext uri="{BB962C8B-B14F-4D97-AF65-F5344CB8AC3E}">
        <p14:creationId xmlns:p14="http://schemas.microsoft.com/office/powerpoint/2010/main" val="1410259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FA209F1-1111-2BC7-C819-6F375C2B6E01}"/>
              </a:ext>
            </a:extLst>
          </p:cNvPr>
          <p:cNvSpPr/>
          <p:nvPr/>
        </p:nvSpPr>
        <p:spPr>
          <a:xfrm>
            <a:off x="223448" y="1174881"/>
            <a:ext cx="11761871" cy="5448623"/>
          </a:xfrm>
          <a:prstGeom prst="rect">
            <a:avLst/>
          </a:prstGeom>
          <a:noFill/>
          <a:ln w="2857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F02544E6-3724-7CEC-194C-E1D102346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89795" y="1631701"/>
            <a:ext cx="3445366" cy="14163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8ED9CF3-3CAE-254D-29CA-DB78EDF138EA}"/>
              </a:ext>
            </a:extLst>
          </p:cNvPr>
          <p:cNvSpPr/>
          <p:nvPr/>
        </p:nvSpPr>
        <p:spPr>
          <a:xfrm>
            <a:off x="5946369" y="7848931"/>
            <a:ext cx="5955733" cy="34846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7B21F8D4-46B3-2AF8-FD58-08AB74831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266013" y="2544921"/>
            <a:ext cx="2441198" cy="1768157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6E147F99-B6AA-3EC6-36A3-5836BC216BBA}"/>
              </a:ext>
            </a:extLst>
          </p:cNvPr>
          <p:cNvSpPr txBox="1"/>
          <p:nvPr/>
        </p:nvSpPr>
        <p:spPr>
          <a:xfrm>
            <a:off x="-4584705" y="3022449"/>
            <a:ext cx="3066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Exemple de classe de </a:t>
            </a:r>
            <a:r>
              <a:rPr lang="fr-FR" sz="2000" dirty="0" err="1">
                <a:latin typeface="Harlow Solid Italic" panose="04030604020F02020D02" pitchFamily="82" charset="0"/>
              </a:rPr>
              <a:t>spawn</a:t>
            </a:r>
            <a:endParaRPr lang="fr-FR" sz="2000" dirty="0">
              <a:latin typeface="Harlow Solid Italic" panose="04030604020F02020D02" pitchFamily="82" charset="0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5BFE95CA-1CFF-CFF7-352B-2FD2BC3B0AE9}"/>
              </a:ext>
            </a:extLst>
          </p:cNvPr>
          <p:cNvSpPr txBox="1"/>
          <p:nvPr/>
        </p:nvSpPr>
        <p:spPr>
          <a:xfrm>
            <a:off x="-7295399" y="1931556"/>
            <a:ext cx="26035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Fichiers de </a:t>
            </a:r>
            <a:r>
              <a:rPr lang="fr-FR" sz="2000" dirty="0" err="1">
                <a:latin typeface="Harlow Solid Italic" panose="04030604020F02020D02" pitchFamily="82" charset="0"/>
              </a:rPr>
              <a:t>spawns</a:t>
            </a:r>
            <a:r>
              <a:rPr lang="fr-FR" sz="2000" dirty="0">
                <a:latin typeface="Harlow Solid Italic" panose="04030604020F02020D02" pitchFamily="82" charset="0"/>
              </a:rPr>
              <a:t> des différents éléments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5D67CB78-6616-BC05-C0D7-D99EF0D052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62866" y="3236011"/>
            <a:ext cx="2252506" cy="1799740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1F527450-F98E-2C2C-7971-14B037782797}"/>
              </a:ext>
            </a:extLst>
          </p:cNvPr>
          <p:cNvSpPr txBox="1"/>
          <p:nvPr/>
        </p:nvSpPr>
        <p:spPr>
          <a:xfrm>
            <a:off x="12919755" y="5054240"/>
            <a:ext cx="24986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Fichiers de </a:t>
            </a:r>
            <a:r>
              <a:rPr lang="fr-FR" sz="2000" dirty="0" err="1">
                <a:latin typeface="Harlow Solid Italic" panose="04030604020F02020D02" pitchFamily="82" charset="0"/>
              </a:rPr>
              <a:t>removes</a:t>
            </a:r>
            <a:r>
              <a:rPr lang="fr-FR" sz="2000" dirty="0">
                <a:latin typeface="Harlow Solid Italic" panose="04030604020F02020D02" pitchFamily="82" charset="0"/>
              </a:rPr>
              <a:t> des différents éléments</a:t>
            </a:r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8CBA2210-51D5-58FB-74FA-0DB5F1A700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54981" y="5041385"/>
            <a:ext cx="3486637" cy="1457528"/>
          </a:xfrm>
          <a:prstGeom prst="rect">
            <a:avLst/>
          </a:prstGeom>
        </p:spPr>
      </p:pic>
      <p:sp>
        <p:nvSpPr>
          <p:cNvPr id="28" name="ZoneTexte 27">
            <a:extLst>
              <a:ext uri="{FF2B5EF4-FFF2-40B4-BE49-F238E27FC236}">
                <a16:creationId xmlns:a16="http://schemas.microsoft.com/office/drawing/2014/main" id="{55FA37A4-B61F-4993-8CC7-54F547E45909}"/>
              </a:ext>
            </a:extLst>
          </p:cNvPr>
          <p:cNvSpPr txBox="1"/>
          <p:nvPr/>
        </p:nvSpPr>
        <p:spPr>
          <a:xfrm>
            <a:off x="15521485" y="4654130"/>
            <a:ext cx="3066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Exemple de classe de </a:t>
            </a:r>
            <a:r>
              <a:rPr lang="fr-FR" sz="2000" dirty="0" err="1">
                <a:latin typeface="Harlow Solid Italic" panose="04030604020F02020D02" pitchFamily="82" charset="0"/>
              </a:rPr>
              <a:t>remove</a:t>
            </a:r>
            <a:endParaRPr lang="fr-FR" sz="2000" dirty="0">
              <a:latin typeface="Harlow Solid Italic" panose="04030604020F02020D02" pitchFamily="82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683B439D-170F-EC3E-2D3A-64311F8B54AB}"/>
              </a:ext>
            </a:extLst>
          </p:cNvPr>
          <p:cNvSpPr txBox="1"/>
          <p:nvPr/>
        </p:nvSpPr>
        <p:spPr>
          <a:xfrm>
            <a:off x="3447020" y="-3916491"/>
            <a:ext cx="52979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Harlow Solid Italic" panose="04030604020F02020D02" pitchFamily="82" charset="0"/>
              </a:rPr>
              <a:t>Argent, Vies et Score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B512C43-08FB-DC8E-9117-4F2647CD16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8793552" y="1228473"/>
            <a:ext cx="3078552" cy="1141754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2216D44C-5811-FE3E-6850-FAE6E5D39E34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40390"/>
          <a:stretch/>
        </p:blipFill>
        <p:spPr>
          <a:xfrm>
            <a:off x="-8742753" y="2480137"/>
            <a:ext cx="2840391" cy="75587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1542938A-6300-293B-ED3F-DBCFFA5C07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8742752" y="3491153"/>
            <a:ext cx="5415208" cy="73109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04BA9E2E-3A18-A71A-7055-6D9E972DA5D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638818" y="3207111"/>
            <a:ext cx="4203097" cy="1654339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EC00F7A2-68F1-E68D-28E7-3098F919C40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638818" y="4931330"/>
            <a:ext cx="2440905" cy="1632084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416FEA8E-BC37-D1D5-6CE4-3A4489CA524D}"/>
              </a:ext>
            </a:extLst>
          </p:cNvPr>
          <p:cNvSpPr txBox="1"/>
          <p:nvPr/>
        </p:nvSpPr>
        <p:spPr>
          <a:xfrm>
            <a:off x="19926007" y="3236010"/>
            <a:ext cx="16153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Fonction de perte de vie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4C662E64-F934-877D-5DA0-429664C843DC}"/>
              </a:ext>
            </a:extLst>
          </p:cNvPr>
          <p:cNvSpPr txBox="1"/>
          <p:nvPr/>
        </p:nvSpPr>
        <p:spPr>
          <a:xfrm>
            <a:off x="18079723" y="5483250"/>
            <a:ext cx="16236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Classe de Vie et fonction d’affichage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FDEE4FF5-E5D5-6BFF-4C1E-1C7613A32AD8}"/>
              </a:ext>
            </a:extLst>
          </p:cNvPr>
          <p:cNvSpPr txBox="1"/>
          <p:nvPr/>
        </p:nvSpPr>
        <p:spPr>
          <a:xfrm>
            <a:off x="-5620780" y="1777667"/>
            <a:ext cx="23434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Classe de l’argent et boucles pour ajouter ou enlever de l’argent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FC407CE5-A42B-C41B-859F-CB3604E7BB71}"/>
              </a:ext>
            </a:extLst>
          </p:cNvPr>
          <p:cNvSpPr txBox="1"/>
          <p:nvPr/>
        </p:nvSpPr>
        <p:spPr>
          <a:xfrm>
            <a:off x="3523220" y="-4838700"/>
            <a:ext cx="51455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Harlow Solid Italic" panose="04030604020F02020D02" pitchFamily="82" charset="0"/>
              </a:rPr>
              <a:t>Génération du niveau</a:t>
            </a:r>
          </a:p>
        </p:txBody>
      </p:sp>
      <p:pic>
        <p:nvPicPr>
          <p:cNvPr id="30" name="Image 29">
            <a:extLst>
              <a:ext uri="{FF2B5EF4-FFF2-40B4-BE49-F238E27FC236}">
                <a16:creationId xmlns:a16="http://schemas.microsoft.com/office/drawing/2014/main" id="{E8836FA5-C7EB-D6F5-12D7-A0A730865DF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10219090" y="1335355"/>
            <a:ext cx="4068173" cy="3595975"/>
          </a:xfrm>
          <a:prstGeom prst="rect">
            <a:avLst/>
          </a:prstGeom>
        </p:spPr>
      </p:pic>
      <p:sp>
        <p:nvSpPr>
          <p:cNvPr id="31" name="ZoneTexte 30">
            <a:extLst>
              <a:ext uri="{FF2B5EF4-FFF2-40B4-BE49-F238E27FC236}">
                <a16:creationId xmlns:a16="http://schemas.microsoft.com/office/drawing/2014/main" id="{28F22142-972D-418A-3344-60616157E2BD}"/>
              </a:ext>
            </a:extLst>
          </p:cNvPr>
          <p:cNvSpPr txBox="1"/>
          <p:nvPr/>
        </p:nvSpPr>
        <p:spPr>
          <a:xfrm>
            <a:off x="-6101428" y="1433752"/>
            <a:ext cx="137083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Classe de génération et d’affichage d’un niveau</a:t>
            </a:r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B0FAB6B0-F135-2D6F-57D5-C7155EC82CD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592300" y="3197911"/>
            <a:ext cx="3162300" cy="2663200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3F3BAF58-BC12-CC54-488F-61B7E6AE96F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777230" y="4758988"/>
            <a:ext cx="2701519" cy="1850504"/>
          </a:xfrm>
          <a:prstGeom prst="rect">
            <a:avLst/>
          </a:prstGeom>
        </p:spPr>
      </p:pic>
      <p:sp>
        <p:nvSpPr>
          <p:cNvPr id="34" name="ZoneTexte 33">
            <a:extLst>
              <a:ext uri="{FF2B5EF4-FFF2-40B4-BE49-F238E27FC236}">
                <a16:creationId xmlns:a16="http://schemas.microsoft.com/office/drawing/2014/main" id="{6000750A-25E4-E23C-70E9-27E865FF4B5F}"/>
              </a:ext>
            </a:extLst>
          </p:cNvPr>
          <p:cNvSpPr txBox="1"/>
          <p:nvPr/>
        </p:nvSpPr>
        <p:spPr>
          <a:xfrm>
            <a:off x="14605028" y="5798872"/>
            <a:ext cx="17920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Fonction de premier </a:t>
            </a:r>
            <a:r>
              <a:rPr lang="fr-FR" sz="2000" dirty="0" err="1">
                <a:latin typeface="Harlow Solid Italic" panose="04030604020F02020D02" pitchFamily="82" charset="0"/>
              </a:rPr>
              <a:t>spawn</a:t>
            </a:r>
            <a:endParaRPr lang="fr-FR" sz="2000" dirty="0">
              <a:latin typeface="Harlow Solid Italic" panose="04030604020F02020D02" pitchFamily="82" charset="0"/>
            </a:endParaRP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217C4626-99FC-3D0F-0D31-ECA77C8BBEE8}"/>
              </a:ext>
            </a:extLst>
          </p:cNvPr>
          <p:cNvSpPr txBox="1"/>
          <p:nvPr/>
        </p:nvSpPr>
        <p:spPr>
          <a:xfrm>
            <a:off x="18927405" y="4124845"/>
            <a:ext cx="17920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Génération du niveau 3</a:t>
            </a:r>
          </a:p>
        </p:txBody>
      </p:sp>
      <p:pic>
        <p:nvPicPr>
          <p:cNvPr id="38" name="Image 37">
            <a:extLst>
              <a:ext uri="{FF2B5EF4-FFF2-40B4-BE49-F238E27FC236}">
                <a16:creationId xmlns:a16="http://schemas.microsoft.com/office/drawing/2014/main" id="{99471F2D-8C5A-CC0F-C59A-E04153A7B4A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6862" y="9615745"/>
            <a:ext cx="4745814" cy="1342753"/>
          </a:xfrm>
          <a:prstGeom prst="rect">
            <a:avLst/>
          </a:prstGeom>
        </p:spPr>
      </p:pic>
      <p:sp>
        <p:nvSpPr>
          <p:cNvPr id="39" name="ZoneTexte 38">
            <a:extLst>
              <a:ext uri="{FF2B5EF4-FFF2-40B4-BE49-F238E27FC236}">
                <a16:creationId xmlns:a16="http://schemas.microsoft.com/office/drawing/2014/main" id="{E459FE52-85FD-BE2D-DEF8-3C886347C2F8}"/>
              </a:ext>
            </a:extLst>
          </p:cNvPr>
          <p:cNvSpPr txBox="1"/>
          <p:nvPr/>
        </p:nvSpPr>
        <p:spPr>
          <a:xfrm>
            <a:off x="4473886" y="8809742"/>
            <a:ext cx="17920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Harlow Solid Italic" panose="04030604020F02020D02" pitchFamily="82" charset="0"/>
              </a:rPr>
              <a:t>Fonction d’affichage des éléments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3528B17-F67C-7888-CF7E-E6DDEBC8D6C0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l="31704" t="34606" r="14437" b="14499"/>
          <a:stretch/>
        </p:blipFill>
        <p:spPr>
          <a:xfrm>
            <a:off x="17871307" y="1701465"/>
            <a:ext cx="2687171" cy="1427496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790F1136-95C2-FB10-E6E9-264D7E89CFD9}"/>
              </a:ext>
            </a:extLst>
          </p:cNvPr>
          <p:cNvSpPr txBox="1"/>
          <p:nvPr/>
        </p:nvSpPr>
        <p:spPr>
          <a:xfrm>
            <a:off x="16038940" y="1760575"/>
            <a:ext cx="19437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Affichage des deux </a:t>
            </a:r>
            <a:r>
              <a:rPr lang="fr-FR" sz="2000" dirty="0" err="1">
                <a:latin typeface="Harlow Solid Italic" panose="04030604020F02020D02" pitchFamily="82" charset="0"/>
              </a:rPr>
              <a:t>spawnpoints</a:t>
            </a:r>
            <a:endParaRPr lang="fr-FR" sz="2000" dirty="0">
              <a:latin typeface="Harlow Solid Italic" panose="04030604020F02020D02" pitchFamily="82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AC54F8D-0792-9647-232D-3CF418F7FBC5}"/>
              </a:ext>
            </a:extLst>
          </p:cNvPr>
          <p:cNvSpPr txBox="1"/>
          <p:nvPr/>
        </p:nvSpPr>
        <p:spPr>
          <a:xfrm>
            <a:off x="5193379" y="234496"/>
            <a:ext cx="15059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Harlow Solid Italic" panose="04030604020F02020D02" pitchFamily="82" charset="0"/>
              </a:rPr>
              <a:t>Score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DB18BDCD-4DE0-0F12-AD11-331A6867D16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0735" y="1214249"/>
            <a:ext cx="4875741" cy="2454683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F89CD037-3AA5-5842-2F53-3C8BBC55EA4A}"/>
              </a:ext>
            </a:extLst>
          </p:cNvPr>
          <p:cNvSpPr txBox="1"/>
          <p:nvPr/>
        </p:nvSpPr>
        <p:spPr>
          <a:xfrm>
            <a:off x="5136476" y="1277758"/>
            <a:ext cx="25704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3 fonctions pour ajouter une valeur au score</a:t>
            </a:r>
          </a:p>
        </p:txBody>
      </p:sp>
      <p:pic>
        <p:nvPicPr>
          <p:cNvPr id="36" name="Image 35">
            <a:extLst>
              <a:ext uri="{FF2B5EF4-FFF2-40B4-BE49-F238E27FC236}">
                <a16:creationId xmlns:a16="http://schemas.microsoft.com/office/drawing/2014/main" id="{CD9FF032-C292-4016-6817-106EA0537E7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5955" y="3940052"/>
            <a:ext cx="4303894" cy="2412331"/>
          </a:xfrm>
          <a:prstGeom prst="rect">
            <a:avLst/>
          </a:prstGeom>
        </p:spPr>
      </p:pic>
      <p:pic>
        <p:nvPicPr>
          <p:cNvPr id="40" name="Image 39">
            <a:extLst>
              <a:ext uri="{FF2B5EF4-FFF2-40B4-BE49-F238E27FC236}">
                <a16:creationId xmlns:a16="http://schemas.microsoft.com/office/drawing/2014/main" id="{72C0A2F8-50A1-8573-EE87-A53FAED797B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161229" y="3940052"/>
            <a:ext cx="4303894" cy="2422834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BFED9167-51A5-929A-4CA7-48CB6461D65A}"/>
              </a:ext>
            </a:extLst>
          </p:cNvPr>
          <p:cNvSpPr/>
          <p:nvPr/>
        </p:nvSpPr>
        <p:spPr>
          <a:xfrm>
            <a:off x="4168140" y="3925289"/>
            <a:ext cx="373380" cy="79498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97E2E24-9C76-57DB-0C0B-BBF9353115C2}"/>
              </a:ext>
            </a:extLst>
          </p:cNvPr>
          <p:cNvSpPr/>
          <p:nvPr/>
        </p:nvSpPr>
        <p:spPr>
          <a:xfrm>
            <a:off x="11008110" y="3925289"/>
            <a:ext cx="373380" cy="79498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5" name="Connecteur droit avec flèche 44">
            <a:extLst>
              <a:ext uri="{FF2B5EF4-FFF2-40B4-BE49-F238E27FC236}">
                <a16:creationId xmlns:a16="http://schemas.microsoft.com/office/drawing/2014/main" id="{9659B162-55D2-E38C-C1A9-9FC03E7AC6B6}"/>
              </a:ext>
            </a:extLst>
          </p:cNvPr>
          <p:cNvCxnSpPr>
            <a:stCxn id="36" idx="3"/>
            <a:endCxn id="40" idx="1"/>
          </p:cNvCxnSpPr>
          <p:nvPr/>
        </p:nvCxnSpPr>
        <p:spPr>
          <a:xfrm>
            <a:off x="4629849" y="5146218"/>
            <a:ext cx="2531380" cy="525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ZoneTexte 45">
            <a:extLst>
              <a:ext uri="{FF2B5EF4-FFF2-40B4-BE49-F238E27FC236}">
                <a16:creationId xmlns:a16="http://schemas.microsoft.com/office/drawing/2014/main" id="{EAFF736A-479C-CA6C-50DC-1D8C9044B52A}"/>
              </a:ext>
            </a:extLst>
          </p:cNvPr>
          <p:cNvSpPr txBox="1"/>
          <p:nvPr/>
        </p:nvSpPr>
        <p:spPr>
          <a:xfrm>
            <a:off x="5074888" y="4529511"/>
            <a:ext cx="17023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Après avoir tué un monstre</a:t>
            </a:r>
          </a:p>
        </p:txBody>
      </p:sp>
    </p:spTree>
    <p:extLst>
      <p:ext uri="{BB962C8B-B14F-4D97-AF65-F5344CB8AC3E}">
        <p14:creationId xmlns:p14="http://schemas.microsoft.com/office/powerpoint/2010/main" val="10111155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FA209F1-1111-2BC7-C819-6F375C2B6E01}"/>
              </a:ext>
            </a:extLst>
          </p:cNvPr>
          <p:cNvSpPr/>
          <p:nvPr/>
        </p:nvSpPr>
        <p:spPr>
          <a:xfrm>
            <a:off x="223448" y="1174881"/>
            <a:ext cx="6080627" cy="5324031"/>
          </a:xfrm>
          <a:prstGeom prst="rect">
            <a:avLst/>
          </a:prstGeom>
          <a:noFill/>
          <a:ln w="2857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ED9CF3-3CAE-254D-29CA-DB78EDF138EA}"/>
              </a:ext>
            </a:extLst>
          </p:cNvPr>
          <p:cNvSpPr/>
          <p:nvPr/>
        </p:nvSpPr>
        <p:spPr>
          <a:xfrm>
            <a:off x="5946369" y="1673364"/>
            <a:ext cx="5955733" cy="497391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683B439D-170F-EC3E-2D3A-64311F8B54AB}"/>
              </a:ext>
            </a:extLst>
          </p:cNvPr>
          <p:cNvSpPr txBox="1"/>
          <p:nvPr/>
        </p:nvSpPr>
        <p:spPr>
          <a:xfrm>
            <a:off x="3447020" y="-5612557"/>
            <a:ext cx="52979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Harlow Solid Italic" panose="04030604020F02020D02" pitchFamily="82" charset="0"/>
              </a:rPr>
              <a:t>Argent, Vies et Score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B512C43-08FB-DC8E-9117-4F2647CD1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598505" y="1228473"/>
            <a:ext cx="3078552" cy="1141754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2216D44C-5811-FE3E-6850-FAE6E5D39E3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0390"/>
          <a:stretch/>
        </p:blipFill>
        <p:spPr>
          <a:xfrm>
            <a:off x="-6547706" y="2480137"/>
            <a:ext cx="2840391" cy="75587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1542938A-6300-293B-ED3F-DBCFFA5C07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547705" y="3491153"/>
            <a:ext cx="5415208" cy="73109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04BA9E2E-3A18-A71A-7055-6D9E972DA5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53589" y="3207111"/>
            <a:ext cx="4203097" cy="1654339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EC00F7A2-68F1-E68D-28E7-3098F919C4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53589" y="4931330"/>
            <a:ext cx="2440905" cy="1632084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416FEA8E-BC37-D1D5-6CE4-3A4489CA524D}"/>
              </a:ext>
            </a:extLst>
          </p:cNvPr>
          <p:cNvSpPr txBox="1"/>
          <p:nvPr/>
        </p:nvSpPr>
        <p:spPr>
          <a:xfrm>
            <a:off x="18840778" y="3236010"/>
            <a:ext cx="16153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Fonction de perte de vie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4C662E64-F934-877D-5DA0-429664C843DC}"/>
              </a:ext>
            </a:extLst>
          </p:cNvPr>
          <p:cNvSpPr txBox="1"/>
          <p:nvPr/>
        </p:nvSpPr>
        <p:spPr>
          <a:xfrm>
            <a:off x="16994494" y="5483250"/>
            <a:ext cx="16236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Classe de Vie et fonction d’affichage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FDEE4FF5-E5D5-6BFF-4C1E-1C7613A32AD8}"/>
              </a:ext>
            </a:extLst>
          </p:cNvPr>
          <p:cNvSpPr txBox="1"/>
          <p:nvPr/>
        </p:nvSpPr>
        <p:spPr>
          <a:xfrm>
            <a:off x="-3425733" y="1777667"/>
            <a:ext cx="23434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Classe de l’argent et boucles pour ajouter ou enlever de l’argent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E3CC34B9-B769-0794-B724-19FC3E7F88D1}"/>
              </a:ext>
            </a:extLst>
          </p:cNvPr>
          <p:cNvSpPr txBox="1"/>
          <p:nvPr/>
        </p:nvSpPr>
        <p:spPr>
          <a:xfrm>
            <a:off x="3523220" y="0"/>
            <a:ext cx="51455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Harlow Solid Italic" panose="04030604020F02020D02" pitchFamily="82" charset="0"/>
              </a:rPr>
              <a:t>Génération du niveau</a:t>
            </a:r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952FF88A-F300-5789-14B7-4BA9885F76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810" y="1335355"/>
            <a:ext cx="4068173" cy="3595975"/>
          </a:xfrm>
          <a:prstGeom prst="rect">
            <a:avLst/>
          </a:prstGeom>
        </p:spPr>
      </p:pic>
      <p:sp>
        <p:nvSpPr>
          <p:cNvPr id="30" name="ZoneTexte 29">
            <a:extLst>
              <a:ext uri="{FF2B5EF4-FFF2-40B4-BE49-F238E27FC236}">
                <a16:creationId xmlns:a16="http://schemas.microsoft.com/office/drawing/2014/main" id="{E19AE99B-4EEC-3537-4C42-9852D1AC4C53}"/>
              </a:ext>
            </a:extLst>
          </p:cNvPr>
          <p:cNvSpPr txBox="1"/>
          <p:nvPr/>
        </p:nvSpPr>
        <p:spPr>
          <a:xfrm>
            <a:off x="4528473" y="1433752"/>
            <a:ext cx="130645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Classe de génération et d’affichage d’un niveau</a:t>
            </a:r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9645E0F8-AD08-5E7C-0801-52164BE92F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1700" y="3197911"/>
            <a:ext cx="3162300" cy="2663200"/>
          </a:xfrm>
          <a:prstGeom prst="rect">
            <a:avLst/>
          </a:prstGeom>
        </p:spPr>
      </p:pic>
      <p:pic>
        <p:nvPicPr>
          <p:cNvPr id="36" name="Image 35">
            <a:extLst>
              <a:ext uri="{FF2B5EF4-FFF2-40B4-BE49-F238E27FC236}">
                <a16:creationId xmlns:a16="http://schemas.microsoft.com/office/drawing/2014/main" id="{0E701DBF-8356-AA47-DC93-D6E87ABDC28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66630" y="4758988"/>
            <a:ext cx="2701519" cy="1850504"/>
          </a:xfrm>
          <a:prstGeom prst="rect">
            <a:avLst/>
          </a:prstGeom>
        </p:spPr>
      </p:pic>
      <p:sp>
        <p:nvSpPr>
          <p:cNvPr id="37" name="ZoneTexte 36">
            <a:extLst>
              <a:ext uri="{FF2B5EF4-FFF2-40B4-BE49-F238E27FC236}">
                <a16:creationId xmlns:a16="http://schemas.microsoft.com/office/drawing/2014/main" id="{99A5CE4A-87C3-4C49-AC23-44B9A5B627C9}"/>
              </a:ext>
            </a:extLst>
          </p:cNvPr>
          <p:cNvSpPr txBox="1"/>
          <p:nvPr/>
        </p:nvSpPr>
        <p:spPr>
          <a:xfrm>
            <a:off x="5994428" y="5798872"/>
            <a:ext cx="17920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Fonction de premier </a:t>
            </a:r>
            <a:r>
              <a:rPr lang="fr-FR" sz="2000" dirty="0" err="1">
                <a:latin typeface="Harlow Solid Italic" panose="04030604020F02020D02" pitchFamily="82" charset="0"/>
              </a:rPr>
              <a:t>spawn</a:t>
            </a:r>
            <a:endParaRPr lang="fr-FR" sz="2000" dirty="0">
              <a:latin typeface="Harlow Solid Italic" panose="04030604020F02020D02" pitchFamily="82" charset="0"/>
            </a:endParaRP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106975F0-E5CE-A47D-40FB-4C5265A92849}"/>
              </a:ext>
            </a:extLst>
          </p:cNvPr>
          <p:cNvSpPr txBox="1"/>
          <p:nvPr/>
        </p:nvSpPr>
        <p:spPr>
          <a:xfrm>
            <a:off x="10316805" y="4124845"/>
            <a:ext cx="17920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Génération du niveau 3</a:t>
            </a:r>
          </a:p>
        </p:txBody>
      </p:sp>
      <p:pic>
        <p:nvPicPr>
          <p:cNvPr id="40" name="Image 39">
            <a:extLst>
              <a:ext uri="{FF2B5EF4-FFF2-40B4-BE49-F238E27FC236}">
                <a16:creationId xmlns:a16="http://schemas.microsoft.com/office/drawing/2014/main" id="{5FE6C647-DE79-6829-80A6-6D864432E6F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6862" y="5043744"/>
            <a:ext cx="4745814" cy="1342753"/>
          </a:xfrm>
          <a:prstGeom prst="rect">
            <a:avLst/>
          </a:prstGeom>
        </p:spPr>
      </p:pic>
      <p:sp>
        <p:nvSpPr>
          <p:cNvPr id="41" name="ZoneTexte 40">
            <a:extLst>
              <a:ext uri="{FF2B5EF4-FFF2-40B4-BE49-F238E27FC236}">
                <a16:creationId xmlns:a16="http://schemas.microsoft.com/office/drawing/2014/main" id="{133AEE2D-A64E-6134-0E1B-D6B1FA192ED6}"/>
              </a:ext>
            </a:extLst>
          </p:cNvPr>
          <p:cNvSpPr txBox="1"/>
          <p:nvPr/>
        </p:nvSpPr>
        <p:spPr>
          <a:xfrm>
            <a:off x="4473886" y="4237741"/>
            <a:ext cx="17920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Harlow Solid Italic" panose="04030604020F02020D02" pitchFamily="82" charset="0"/>
              </a:rPr>
              <a:t>Fonction d’affichage des éléments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07EE5F73-7AD0-C460-26B3-916AA6DBA1B7}"/>
              </a:ext>
            </a:extLst>
          </p:cNvPr>
          <p:cNvSpPr txBox="1"/>
          <p:nvPr/>
        </p:nvSpPr>
        <p:spPr>
          <a:xfrm>
            <a:off x="4010739" y="-4589881"/>
            <a:ext cx="4170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Harlow Solid Italic" panose="04030604020F02020D02" pitchFamily="82" charset="0"/>
              </a:rPr>
              <a:t>Différents écrans</a:t>
            </a:r>
          </a:p>
        </p:txBody>
      </p:sp>
      <p:pic>
        <p:nvPicPr>
          <p:cNvPr id="43" name="Image 42">
            <a:extLst>
              <a:ext uri="{FF2B5EF4-FFF2-40B4-BE49-F238E27FC236}">
                <a16:creationId xmlns:a16="http://schemas.microsoft.com/office/drawing/2014/main" id="{CA3A7293-729D-EA52-FDFC-A58EB9FC59F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9501007" y="1276360"/>
            <a:ext cx="2465207" cy="2215355"/>
          </a:xfrm>
          <a:prstGeom prst="rect">
            <a:avLst/>
          </a:prstGeom>
        </p:spPr>
      </p:pic>
      <p:sp>
        <p:nvSpPr>
          <p:cNvPr id="44" name="ZoneTexte 43">
            <a:extLst>
              <a:ext uri="{FF2B5EF4-FFF2-40B4-BE49-F238E27FC236}">
                <a16:creationId xmlns:a16="http://schemas.microsoft.com/office/drawing/2014/main" id="{B679F65E-9FBE-98EF-2123-E48E6EF13BFC}"/>
              </a:ext>
            </a:extLst>
          </p:cNvPr>
          <p:cNvSpPr txBox="1"/>
          <p:nvPr/>
        </p:nvSpPr>
        <p:spPr>
          <a:xfrm>
            <a:off x="-7035800" y="1673364"/>
            <a:ext cx="12221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6 écrans différents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C7DD6ABE-5D90-3455-3041-50BAC5B0A278}"/>
              </a:ext>
            </a:extLst>
          </p:cNvPr>
          <p:cNvSpPr txBox="1"/>
          <p:nvPr/>
        </p:nvSpPr>
        <p:spPr>
          <a:xfrm>
            <a:off x="18908002" y="3003807"/>
            <a:ext cx="24650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Vérification d’une valeur de variable pour afficher le bon écran</a:t>
            </a:r>
          </a:p>
        </p:txBody>
      </p:sp>
      <p:pic>
        <p:nvPicPr>
          <p:cNvPr id="47" name="Image 46">
            <a:extLst>
              <a:ext uri="{FF2B5EF4-FFF2-40B4-BE49-F238E27FC236}">
                <a16:creationId xmlns:a16="http://schemas.microsoft.com/office/drawing/2014/main" id="{97DBEDB3-5F0B-8A44-74C5-CF15128A0EF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7035800" y="3311827"/>
            <a:ext cx="3118244" cy="1470241"/>
          </a:xfrm>
          <a:prstGeom prst="rect">
            <a:avLst/>
          </a:prstGeom>
        </p:spPr>
      </p:pic>
      <p:sp>
        <p:nvSpPr>
          <p:cNvPr id="48" name="ZoneTexte 47">
            <a:extLst>
              <a:ext uri="{FF2B5EF4-FFF2-40B4-BE49-F238E27FC236}">
                <a16:creationId xmlns:a16="http://schemas.microsoft.com/office/drawing/2014/main" id="{1385B690-67F1-5C2D-791A-C80AFDD77524}"/>
              </a:ext>
            </a:extLst>
          </p:cNvPr>
          <p:cNvSpPr txBox="1"/>
          <p:nvPr/>
        </p:nvSpPr>
        <p:spPr>
          <a:xfrm>
            <a:off x="-8659236" y="3991520"/>
            <a:ext cx="1759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Exemple : écran d’accueil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F0C6DF7-4119-CD51-17FD-989F1A2ED3CB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31704" t="34606" r="14437" b="14499"/>
          <a:stretch/>
        </p:blipFill>
        <p:spPr>
          <a:xfrm>
            <a:off x="9184507" y="1701465"/>
            <a:ext cx="2687171" cy="142749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E19A756-12CA-BF08-0469-3FA0CC550FF6}"/>
              </a:ext>
            </a:extLst>
          </p:cNvPr>
          <p:cNvSpPr txBox="1"/>
          <p:nvPr/>
        </p:nvSpPr>
        <p:spPr>
          <a:xfrm>
            <a:off x="7352140" y="1760575"/>
            <a:ext cx="19437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Affichage des deux </a:t>
            </a:r>
            <a:r>
              <a:rPr lang="fr-FR" sz="2000" dirty="0" err="1">
                <a:latin typeface="Harlow Solid Italic" panose="04030604020F02020D02" pitchFamily="82" charset="0"/>
              </a:rPr>
              <a:t>spawnpoints</a:t>
            </a:r>
            <a:endParaRPr lang="fr-FR" sz="2000" dirty="0">
              <a:latin typeface="Harlow Solid Italic" panose="04030604020F02020D02" pitchFamily="82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944F0445-CC7E-0627-3DE9-AD7A15B859B9}"/>
              </a:ext>
            </a:extLst>
          </p:cNvPr>
          <p:cNvSpPr txBox="1"/>
          <p:nvPr/>
        </p:nvSpPr>
        <p:spPr>
          <a:xfrm>
            <a:off x="5193379" y="-5175704"/>
            <a:ext cx="15059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Harlow Solid Italic" panose="04030604020F02020D02" pitchFamily="82" charset="0"/>
              </a:rPr>
              <a:t>Score</a:t>
            </a: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57087B76-2E6A-1578-3882-5E7301EF49C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12617065" y="1214249"/>
            <a:ext cx="4875741" cy="2454683"/>
          </a:xfrm>
          <a:prstGeom prst="rect">
            <a:avLst/>
          </a:prstGeom>
        </p:spPr>
      </p:pic>
      <p:sp>
        <p:nvSpPr>
          <p:cNvPr id="34" name="ZoneTexte 33">
            <a:extLst>
              <a:ext uri="{FF2B5EF4-FFF2-40B4-BE49-F238E27FC236}">
                <a16:creationId xmlns:a16="http://schemas.microsoft.com/office/drawing/2014/main" id="{785BB579-537A-5420-A85D-E0DF598AC016}"/>
              </a:ext>
            </a:extLst>
          </p:cNvPr>
          <p:cNvSpPr txBox="1"/>
          <p:nvPr/>
        </p:nvSpPr>
        <p:spPr>
          <a:xfrm>
            <a:off x="-7741324" y="1277758"/>
            <a:ext cx="25704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3 fonctions pour ajouter une valeur au score</a:t>
            </a:r>
          </a:p>
        </p:txBody>
      </p:sp>
      <p:pic>
        <p:nvPicPr>
          <p:cNvPr id="35" name="Image 34">
            <a:extLst>
              <a:ext uri="{FF2B5EF4-FFF2-40B4-BE49-F238E27FC236}">
                <a16:creationId xmlns:a16="http://schemas.microsoft.com/office/drawing/2014/main" id="{7816ACBF-4374-A71C-4C8A-030C94DCA44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12551845" y="3940052"/>
            <a:ext cx="4303894" cy="2412331"/>
          </a:xfrm>
          <a:prstGeom prst="rect">
            <a:avLst/>
          </a:prstGeom>
        </p:spPr>
      </p:pic>
      <p:pic>
        <p:nvPicPr>
          <p:cNvPr id="39" name="Image 38">
            <a:extLst>
              <a:ext uri="{FF2B5EF4-FFF2-40B4-BE49-F238E27FC236}">
                <a16:creationId xmlns:a16="http://schemas.microsoft.com/office/drawing/2014/main" id="{AAE3437C-F76D-0346-B6D2-84F74C80CF0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-5716571" y="3940052"/>
            <a:ext cx="4303894" cy="2422834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9E71057E-5584-9657-51E6-4C576591CD0A}"/>
              </a:ext>
            </a:extLst>
          </p:cNvPr>
          <p:cNvSpPr/>
          <p:nvPr/>
        </p:nvSpPr>
        <p:spPr>
          <a:xfrm>
            <a:off x="-8709660" y="3925289"/>
            <a:ext cx="373380" cy="79498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554579B-1F08-3A34-5636-F158B8DFD51B}"/>
              </a:ext>
            </a:extLst>
          </p:cNvPr>
          <p:cNvSpPr/>
          <p:nvPr/>
        </p:nvSpPr>
        <p:spPr>
          <a:xfrm>
            <a:off x="-1869690" y="3925289"/>
            <a:ext cx="373380" cy="79498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1" name="Connecteur droit avec flèche 50">
            <a:extLst>
              <a:ext uri="{FF2B5EF4-FFF2-40B4-BE49-F238E27FC236}">
                <a16:creationId xmlns:a16="http://schemas.microsoft.com/office/drawing/2014/main" id="{84D0134E-EEC8-7FAA-E0DA-18BE4A208443}"/>
              </a:ext>
            </a:extLst>
          </p:cNvPr>
          <p:cNvCxnSpPr>
            <a:stCxn id="35" idx="3"/>
            <a:endCxn id="39" idx="1"/>
          </p:cNvCxnSpPr>
          <p:nvPr/>
        </p:nvCxnSpPr>
        <p:spPr>
          <a:xfrm>
            <a:off x="-8247951" y="5146218"/>
            <a:ext cx="2531380" cy="525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78B7E63E-3667-C85A-BA6D-1B76624227F8}"/>
              </a:ext>
            </a:extLst>
          </p:cNvPr>
          <p:cNvSpPr txBox="1"/>
          <p:nvPr/>
        </p:nvSpPr>
        <p:spPr>
          <a:xfrm>
            <a:off x="-7802912" y="4529511"/>
            <a:ext cx="17023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Après avoir tué un monstre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2EBCAA7-D15D-719D-53B3-FA88E19D8C1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635352" y="1632775"/>
            <a:ext cx="2505115" cy="3329515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F87068B0-2066-DE4C-5256-41BAFB65847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635356" y="4960358"/>
            <a:ext cx="2505115" cy="134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663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FA209F1-1111-2BC7-C819-6F375C2B6E01}"/>
              </a:ext>
            </a:extLst>
          </p:cNvPr>
          <p:cNvSpPr/>
          <p:nvPr/>
        </p:nvSpPr>
        <p:spPr>
          <a:xfrm>
            <a:off x="223448" y="1174882"/>
            <a:ext cx="6080627" cy="3657850"/>
          </a:xfrm>
          <a:prstGeom prst="rect">
            <a:avLst/>
          </a:prstGeom>
          <a:noFill/>
          <a:ln w="2857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ED9CF3-3CAE-254D-29CA-DB78EDF138EA}"/>
              </a:ext>
            </a:extLst>
          </p:cNvPr>
          <p:cNvSpPr/>
          <p:nvPr/>
        </p:nvSpPr>
        <p:spPr>
          <a:xfrm>
            <a:off x="6148833" y="1548214"/>
            <a:ext cx="5758907" cy="504976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E3CC34B9-B769-0794-B724-19FC3E7F88D1}"/>
              </a:ext>
            </a:extLst>
          </p:cNvPr>
          <p:cNvSpPr txBox="1"/>
          <p:nvPr/>
        </p:nvSpPr>
        <p:spPr>
          <a:xfrm>
            <a:off x="3523220" y="-4838700"/>
            <a:ext cx="51455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Harlow Solid Italic" panose="04030604020F02020D02" pitchFamily="82" charset="0"/>
              </a:rPr>
              <a:t>Génération du niveau</a:t>
            </a:r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952FF88A-F300-5789-14B7-4BA9885F7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219090" y="1335355"/>
            <a:ext cx="4068173" cy="3595975"/>
          </a:xfrm>
          <a:prstGeom prst="rect">
            <a:avLst/>
          </a:prstGeom>
        </p:spPr>
      </p:pic>
      <p:sp>
        <p:nvSpPr>
          <p:cNvPr id="30" name="ZoneTexte 29">
            <a:extLst>
              <a:ext uri="{FF2B5EF4-FFF2-40B4-BE49-F238E27FC236}">
                <a16:creationId xmlns:a16="http://schemas.microsoft.com/office/drawing/2014/main" id="{E19AE99B-4EEC-3537-4C42-9852D1AC4C53}"/>
              </a:ext>
            </a:extLst>
          </p:cNvPr>
          <p:cNvSpPr txBox="1"/>
          <p:nvPr/>
        </p:nvSpPr>
        <p:spPr>
          <a:xfrm>
            <a:off x="-6101428" y="1433752"/>
            <a:ext cx="17920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Classe de génération et d’affichage d’un niveau</a:t>
            </a:r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9645E0F8-AD08-5E7C-0801-52164BE92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92300" y="3197911"/>
            <a:ext cx="3162300" cy="2663200"/>
          </a:xfrm>
          <a:prstGeom prst="rect">
            <a:avLst/>
          </a:prstGeom>
        </p:spPr>
      </p:pic>
      <p:pic>
        <p:nvPicPr>
          <p:cNvPr id="36" name="Image 35">
            <a:extLst>
              <a:ext uri="{FF2B5EF4-FFF2-40B4-BE49-F238E27FC236}">
                <a16:creationId xmlns:a16="http://schemas.microsoft.com/office/drawing/2014/main" id="{0E701DBF-8356-AA47-DC93-D6E87ABDC2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77230" y="4758988"/>
            <a:ext cx="2701519" cy="1850504"/>
          </a:xfrm>
          <a:prstGeom prst="rect">
            <a:avLst/>
          </a:prstGeom>
        </p:spPr>
      </p:pic>
      <p:sp>
        <p:nvSpPr>
          <p:cNvPr id="37" name="ZoneTexte 36">
            <a:extLst>
              <a:ext uri="{FF2B5EF4-FFF2-40B4-BE49-F238E27FC236}">
                <a16:creationId xmlns:a16="http://schemas.microsoft.com/office/drawing/2014/main" id="{99A5CE4A-87C3-4C49-AC23-44B9A5B627C9}"/>
              </a:ext>
            </a:extLst>
          </p:cNvPr>
          <p:cNvSpPr txBox="1"/>
          <p:nvPr/>
        </p:nvSpPr>
        <p:spPr>
          <a:xfrm>
            <a:off x="14605028" y="5798872"/>
            <a:ext cx="17920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Fonction de premier </a:t>
            </a:r>
            <a:r>
              <a:rPr lang="fr-FR" sz="2000" dirty="0" err="1">
                <a:latin typeface="Harlow Solid Italic" panose="04030604020F02020D02" pitchFamily="82" charset="0"/>
              </a:rPr>
              <a:t>spawn</a:t>
            </a:r>
            <a:endParaRPr lang="fr-FR" sz="2000" dirty="0">
              <a:latin typeface="Harlow Solid Italic" panose="04030604020F02020D02" pitchFamily="82" charset="0"/>
            </a:endParaRP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106975F0-E5CE-A47D-40FB-4C5265A92849}"/>
              </a:ext>
            </a:extLst>
          </p:cNvPr>
          <p:cNvSpPr txBox="1"/>
          <p:nvPr/>
        </p:nvSpPr>
        <p:spPr>
          <a:xfrm>
            <a:off x="18927405" y="4124845"/>
            <a:ext cx="17920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Génération du niveau 3</a:t>
            </a:r>
          </a:p>
        </p:txBody>
      </p:sp>
      <p:pic>
        <p:nvPicPr>
          <p:cNvPr id="40" name="Image 39">
            <a:extLst>
              <a:ext uri="{FF2B5EF4-FFF2-40B4-BE49-F238E27FC236}">
                <a16:creationId xmlns:a16="http://schemas.microsoft.com/office/drawing/2014/main" id="{5FE6C647-DE79-6829-80A6-6D864432E6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0163038" y="5043744"/>
            <a:ext cx="4745814" cy="1342753"/>
          </a:xfrm>
          <a:prstGeom prst="rect">
            <a:avLst/>
          </a:prstGeom>
        </p:spPr>
      </p:pic>
      <p:sp>
        <p:nvSpPr>
          <p:cNvPr id="41" name="ZoneTexte 40">
            <a:extLst>
              <a:ext uri="{FF2B5EF4-FFF2-40B4-BE49-F238E27FC236}">
                <a16:creationId xmlns:a16="http://schemas.microsoft.com/office/drawing/2014/main" id="{133AEE2D-A64E-6134-0E1B-D6B1FA192ED6}"/>
              </a:ext>
            </a:extLst>
          </p:cNvPr>
          <p:cNvSpPr txBox="1"/>
          <p:nvPr/>
        </p:nvSpPr>
        <p:spPr>
          <a:xfrm>
            <a:off x="-6156014" y="4237741"/>
            <a:ext cx="17920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Harlow Solid Italic" panose="04030604020F02020D02" pitchFamily="82" charset="0"/>
              </a:rPr>
              <a:t>Fonction d’affichage des éléments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4C22C95-D0A8-1E37-5262-54117B6FB3AC}"/>
              </a:ext>
            </a:extLst>
          </p:cNvPr>
          <p:cNvSpPr txBox="1"/>
          <p:nvPr/>
        </p:nvSpPr>
        <p:spPr>
          <a:xfrm>
            <a:off x="4010739" y="210719"/>
            <a:ext cx="4170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Harlow Solid Italic" panose="04030604020F02020D02" pitchFamily="82" charset="0"/>
              </a:rPr>
              <a:t>Différents écrans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995EF75-B56D-56BA-F2B0-3A65BC9667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793" y="1276360"/>
            <a:ext cx="2465207" cy="2215355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0DF89E15-E36D-4EDA-5B05-CBBDEF7DA113}"/>
              </a:ext>
            </a:extLst>
          </p:cNvPr>
          <p:cNvSpPr txBox="1"/>
          <p:nvPr/>
        </p:nvSpPr>
        <p:spPr>
          <a:xfrm>
            <a:off x="2794000" y="1673364"/>
            <a:ext cx="12221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6 écrans différents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D8EB6510-B0A0-3612-1A63-739A5747A62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46092" y="1632775"/>
            <a:ext cx="2505115" cy="3329515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C8293CFC-8763-6332-F792-39F46156F050}"/>
              </a:ext>
            </a:extLst>
          </p:cNvPr>
          <p:cNvSpPr txBox="1"/>
          <p:nvPr/>
        </p:nvSpPr>
        <p:spPr>
          <a:xfrm>
            <a:off x="8691759" y="3003807"/>
            <a:ext cx="24650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Vérification d’une valeur de variable pour afficher le bon écran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F29B12C3-8940-6EDB-FFC5-EA23D74F76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94000" y="3311827"/>
            <a:ext cx="3118244" cy="1470241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0E23B9F0-34CC-88B8-BD8D-7D52F81170F6}"/>
              </a:ext>
            </a:extLst>
          </p:cNvPr>
          <p:cNvSpPr txBox="1"/>
          <p:nvPr/>
        </p:nvSpPr>
        <p:spPr>
          <a:xfrm>
            <a:off x="1170564" y="3991520"/>
            <a:ext cx="1759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Exemple : écran d’accueil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C5F3E059-A4B4-43BE-5399-488710BB49C3}"/>
              </a:ext>
            </a:extLst>
          </p:cNvPr>
          <p:cNvSpPr txBox="1"/>
          <p:nvPr/>
        </p:nvSpPr>
        <p:spPr>
          <a:xfrm>
            <a:off x="2710219" y="-3829907"/>
            <a:ext cx="67715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Harlow Solid Italic" panose="04030604020F02020D02" pitchFamily="82" charset="0"/>
              </a:rPr>
              <a:t>Ecran de sélection de niveau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8DD84DD9-CF7D-41CC-5329-BCBD0AFC4CF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5727996" y="1276360"/>
            <a:ext cx="3390900" cy="1894136"/>
          </a:xfrm>
          <a:prstGeom prst="rect">
            <a:avLst/>
          </a:prstGeom>
        </p:spPr>
      </p:pic>
      <p:sp>
        <p:nvSpPr>
          <p:cNvPr id="25" name="ZoneTexte 24">
            <a:extLst>
              <a:ext uri="{FF2B5EF4-FFF2-40B4-BE49-F238E27FC236}">
                <a16:creationId xmlns:a16="http://schemas.microsoft.com/office/drawing/2014/main" id="{BE700B57-15FC-00A8-C65E-E847CE2E6794}"/>
              </a:ext>
            </a:extLst>
          </p:cNvPr>
          <p:cNvSpPr txBox="1"/>
          <p:nvPr/>
        </p:nvSpPr>
        <p:spPr>
          <a:xfrm>
            <a:off x="-5786441" y="3170496"/>
            <a:ext cx="12774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Affichage </a:t>
            </a:r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70737130-B4A5-85BE-DAB9-C85998E412C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637844" y="1712069"/>
            <a:ext cx="2569471" cy="2361027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C3046683-0CBD-1D26-9C01-21F414ED58C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650402" y="4128156"/>
            <a:ext cx="6231083" cy="2576764"/>
          </a:xfrm>
          <a:prstGeom prst="rect">
            <a:avLst/>
          </a:prstGeom>
        </p:spPr>
      </p:pic>
      <p:sp>
        <p:nvSpPr>
          <p:cNvPr id="31" name="ZoneTexte 30">
            <a:extLst>
              <a:ext uri="{FF2B5EF4-FFF2-40B4-BE49-F238E27FC236}">
                <a16:creationId xmlns:a16="http://schemas.microsoft.com/office/drawing/2014/main" id="{5CA13B2D-9FCF-3F13-ABA1-C71CC1F01C7C}"/>
              </a:ext>
            </a:extLst>
          </p:cNvPr>
          <p:cNvSpPr txBox="1"/>
          <p:nvPr/>
        </p:nvSpPr>
        <p:spPr>
          <a:xfrm>
            <a:off x="16247078" y="1729820"/>
            <a:ext cx="17890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Classe de l’« </a:t>
            </a:r>
            <a:r>
              <a:rPr lang="fr-FR" sz="2000" dirty="0" err="1">
                <a:latin typeface="Harlow Solid Italic" panose="04030604020F02020D02" pitchFamily="82" charset="0"/>
              </a:rPr>
              <a:t>overworld</a:t>
            </a:r>
            <a:r>
              <a:rPr lang="fr-FR" sz="2000" dirty="0">
                <a:latin typeface="Harlow Solid Italic" panose="04030604020F02020D02" pitchFamily="82" charset="0"/>
              </a:rPr>
              <a:t>» 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61F9F0D2-84A3-5CCC-4676-3326ED65FBDE}"/>
              </a:ext>
            </a:extLst>
          </p:cNvPr>
          <p:cNvSpPr txBox="1"/>
          <p:nvPr/>
        </p:nvSpPr>
        <p:spPr>
          <a:xfrm>
            <a:off x="19864248" y="6052094"/>
            <a:ext cx="17890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Données des « nœuds »</a:t>
            </a:r>
          </a:p>
        </p:txBody>
      </p:sp>
      <p:pic>
        <p:nvPicPr>
          <p:cNvPr id="34" name="Image 33">
            <a:extLst>
              <a:ext uri="{FF2B5EF4-FFF2-40B4-BE49-F238E27FC236}">
                <a16:creationId xmlns:a16="http://schemas.microsoft.com/office/drawing/2014/main" id="{93578CC5-BDDE-488C-FF0E-A722A39EC6F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798366" y="1729820"/>
            <a:ext cx="2779236" cy="343551"/>
          </a:xfrm>
          <a:prstGeom prst="rect">
            <a:avLst/>
          </a:prstGeom>
        </p:spPr>
      </p:pic>
      <p:pic>
        <p:nvPicPr>
          <p:cNvPr id="35" name="Image 34">
            <a:extLst>
              <a:ext uri="{FF2B5EF4-FFF2-40B4-BE49-F238E27FC236}">
                <a16:creationId xmlns:a16="http://schemas.microsoft.com/office/drawing/2014/main" id="{EF22F0A8-D5D8-3DDC-04E4-61A4D169DB2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798366" y="2083727"/>
            <a:ext cx="2779236" cy="1289093"/>
          </a:xfrm>
          <a:prstGeom prst="rect">
            <a:avLst/>
          </a:prstGeom>
        </p:spPr>
      </p:pic>
      <p:sp>
        <p:nvSpPr>
          <p:cNvPr id="39" name="ZoneTexte 38">
            <a:extLst>
              <a:ext uri="{FF2B5EF4-FFF2-40B4-BE49-F238E27FC236}">
                <a16:creationId xmlns:a16="http://schemas.microsoft.com/office/drawing/2014/main" id="{0185EFEB-DEA6-F36F-3EA2-532256159B18}"/>
              </a:ext>
            </a:extLst>
          </p:cNvPr>
          <p:cNvSpPr txBox="1"/>
          <p:nvPr/>
        </p:nvSpPr>
        <p:spPr>
          <a:xfrm>
            <a:off x="18394285" y="3311584"/>
            <a:ext cx="33166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Fonctions pour mettre en place et mettre a jour la position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26AAE282-EA6A-555A-F9D2-ACD47C63745E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31704" t="34606" r="14437" b="14499"/>
          <a:stretch/>
        </p:blipFill>
        <p:spPr>
          <a:xfrm>
            <a:off x="17871307" y="1701465"/>
            <a:ext cx="2687171" cy="1427496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F6AC24D0-2B7B-6E94-7C99-437673EA09BE}"/>
              </a:ext>
            </a:extLst>
          </p:cNvPr>
          <p:cNvSpPr txBox="1"/>
          <p:nvPr/>
        </p:nvSpPr>
        <p:spPr>
          <a:xfrm>
            <a:off x="16038940" y="1760575"/>
            <a:ext cx="19437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Affichage des deux </a:t>
            </a:r>
            <a:r>
              <a:rPr lang="fr-FR" sz="2000" dirty="0" err="1">
                <a:latin typeface="Harlow Solid Italic" panose="04030604020F02020D02" pitchFamily="82" charset="0"/>
              </a:rPr>
              <a:t>spawnpoints</a:t>
            </a:r>
            <a:endParaRPr lang="fr-FR" sz="2000" dirty="0">
              <a:latin typeface="Harlow Solid Italic" panose="04030604020F02020D02" pitchFamily="82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A653A21-0A0C-8088-5CAA-A90ACB053F3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46096" y="4960358"/>
            <a:ext cx="2505115" cy="134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6213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DFF26DC-BF85-B538-1C21-6BF8352FCE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4658" y="1232635"/>
            <a:ext cx="3681722" cy="206338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FA209F1-1111-2BC7-C819-6F375C2B6E01}"/>
              </a:ext>
            </a:extLst>
          </p:cNvPr>
          <p:cNvSpPr/>
          <p:nvPr/>
        </p:nvSpPr>
        <p:spPr>
          <a:xfrm>
            <a:off x="223448" y="1174882"/>
            <a:ext cx="3787291" cy="2543209"/>
          </a:xfrm>
          <a:prstGeom prst="rect">
            <a:avLst/>
          </a:prstGeom>
          <a:noFill/>
          <a:ln w="2857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ED9CF3-3CAE-254D-29CA-DB78EDF138EA}"/>
              </a:ext>
            </a:extLst>
          </p:cNvPr>
          <p:cNvSpPr/>
          <p:nvPr/>
        </p:nvSpPr>
        <p:spPr>
          <a:xfrm>
            <a:off x="3864137" y="1673364"/>
            <a:ext cx="8037966" cy="509891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4C22C95-D0A8-1E37-5262-54117B6FB3AC}"/>
              </a:ext>
            </a:extLst>
          </p:cNvPr>
          <p:cNvSpPr txBox="1"/>
          <p:nvPr/>
        </p:nvSpPr>
        <p:spPr>
          <a:xfrm>
            <a:off x="4010739" y="-4589881"/>
            <a:ext cx="4170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Harlow Solid Italic" panose="04030604020F02020D02" pitchFamily="82" charset="0"/>
              </a:rPr>
              <a:t>Différents écrans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995EF75-B56D-56BA-F2B0-3A65BC9667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501007" y="1276360"/>
            <a:ext cx="2465207" cy="2215355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0DF89E15-E36D-4EDA-5B05-CBBDEF7DA113}"/>
              </a:ext>
            </a:extLst>
          </p:cNvPr>
          <p:cNvSpPr txBox="1"/>
          <p:nvPr/>
        </p:nvSpPr>
        <p:spPr>
          <a:xfrm>
            <a:off x="-7035800" y="1673364"/>
            <a:ext cx="12221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6 écrans différents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C8293CFC-8763-6332-F792-39F46156F050}"/>
              </a:ext>
            </a:extLst>
          </p:cNvPr>
          <p:cNvSpPr txBox="1"/>
          <p:nvPr/>
        </p:nvSpPr>
        <p:spPr>
          <a:xfrm>
            <a:off x="18908002" y="3003807"/>
            <a:ext cx="24650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Vérification d’une valeur de variable pour afficher le bon écran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F29B12C3-8940-6EDB-FFC5-EA23D74F76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035800" y="3311827"/>
            <a:ext cx="3118244" cy="1470241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0E23B9F0-34CC-88B8-BD8D-7D52F81170F6}"/>
              </a:ext>
            </a:extLst>
          </p:cNvPr>
          <p:cNvSpPr txBox="1"/>
          <p:nvPr/>
        </p:nvSpPr>
        <p:spPr>
          <a:xfrm>
            <a:off x="-8659236" y="3991520"/>
            <a:ext cx="1759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Exemple : écran d’accueil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2EF7DAB-8D92-7EF4-9BA7-A4FAACDE9192}"/>
              </a:ext>
            </a:extLst>
          </p:cNvPr>
          <p:cNvSpPr txBox="1"/>
          <p:nvPr/>
        </p:nvSpPr>
        <p:spPr>
          <a:xfrm>
            <a:off x="2710219" y="181655"/>
            <a:ext cx="67715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Harlow Solid Italic" panose="04030604020F02020D02" pitchFamily="82" charset="0"/>
              </a:rPr>
              <a:t>Ecran de sélection de niveau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7BFDD00-E060-CF50-54F8-A8B228D92541}"/>
              </a:ext>
            </a:extLst>
          </p:cNvPr>
          <p:cNvSpPr txBox="1"/>
          <p:nvPr/>
        </p:nvSpPr>
        <p:spPr>
          <a:xfrm>
            <a:off x="293412" y="3317981"/>
            <a:ext cx="12774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Affichage 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87093724-3C84-5ED9-8A35-919388D933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3900" y="1712069"/>
            <a:ext cx="2569471" cy="2361027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785ACCF4-12BF-CF9F-B06F-B6D19E9783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6458" y="4128156"/>
            <a:ext cx="6231083" cy="2576764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1D2945A6-2112-4295-3EA4-18A281D5B313}"/>
              </a:ext>
            </a:extLst>
          </p:cNvPr>
          <p:cNvSpPr txBox="1"/>
          <p:nvPr/>
        </p:nvSpPr>
        <p:spPr>
          <a:xfrm>
            <a:off x="6513134" y="1729820"/>
            <a:ext cx="17890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Classe de l’« </a:t>
            </a:r>
            <a:r>
              <a:rPr lang="fr-FR" sz="2000" dirty="0" err="1">
                <a:latin typeface="Harlow Solid Italic" panose="04030604020F02020D02" pitchFamily="82" charset="0"/>
              </a:rPr>
              <a:t>overworld</a:t>
            </a:r>
            <a:r>
              <a:rPr lang="fr-FR" sz="2000" dirty="0">
                <a:latin typeface="Harlow Solid Italic" panose="04030604020F02020D02" pitchFamily="82" charset="0"/>
              </a:rPr>
              <a:t>» 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A8F61F3B-F4FA-0D45-3165-00564F5A3E04}"/>
              </a:ext>
            </a:extLst>
          </p:cNvPr>
          <p:cNvSpPr txBox="1"/>
          <p:nvPr/>
        </p:nvSpPr>
        <p:spPr>
          <a:xfrm>
            <a:off x="10130304" y="6052094"/>
            <a:ext cx="17890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Données des « nœuds »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5BAE5BD3-6016-F61D-FE26-0AD8C1F9D7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4422" y="1729820"/>
            <a:ext cx="2779236" cy="343551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7E9B3838-6A6F-C087-F71D-DCF915B5749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64422" y="2083727"/>
            <a:ext cx="2779236" cy="1289093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60CAF42A-E1DD-929B-FF87-41F5C7EF8D6F}"/>
              </a:ext>
            </a:extLst>
          </p:cNvPr>
          <p:cNvSpPr txBox="1"/>
          <p:nvPr/>
        </p:nvSpPr>
        <p:spPr>
          <a:xfrm>
            <a:off x="8660341" y="3311584"/>
            <a:ext cx="33166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Fonctions pour mettre en place et mettre a jour la position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743559D-F2FD-A9A2-8277-B53D0C593DB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635352" y="1632775"/>
            <a:ext cx="2505115" cy="3329515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3F0F0E24-CB36-2BD0-BECD-3C6ABE9A2D3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635356" y="4960358"/>
            <a:ext cx="2505115" cy="1343556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249B9304-A769-8421-2386-A9EECC70E64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6910037" y="3851341"/>
            <a:ext cx="3700984" cy="2081804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52B2C01B-22C3-A005-102C-FDA6A48A75E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6923703" y="1219209"/>
            <a:ext cx="3698096" cy="2081804"/>
          </a:xfrm>
          <a:prstGeom prst="rect">
            <a:avLst/>
          </a:prstGeom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124B6F05-2239-376E-7CDF-ED709E4629F7}"/>
              </a:ext>
            </a:extLst>
          </p:cNvPr>
          <p:cNvSpPr txBox="1"/>
          <p:nvPr/>
        </p:nvSpPr>
        <p:spPr>
          <a:xfrm>
            <a:off x="-6991057" y="3309497"/>
            <a:ext cx="3634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Ecrans de sélection de personnages 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7C779E21-D52D-F530-7977-A83CC26FE74C}"/>
              </a:ext>
            </a:extLst>
          </p:cNvPr>
          <p:cNvSpPr txBox="1"/>
          <p:nvPr/>
        </p:nvSpPr>
        <p:spPr>
          <a:xfrm>
            <a:off x="2710219" y="-4336124"/>
            <a:ext cx="67715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Harlow Solid Italic" panose="04030604020F02020D02" pitchFamily="82" charset="0"/>
              </a:rPr>
              <a:t>Différents personnages du jeu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8ACE24AF-AF78-0DDB-01B5-70BD2CB625B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270557" y="1737526"/>
            <a:ext cx="5294044" cy="1230556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B5F89F52-D076-15A4-3DC0-09E4CDE8648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269676" y="2992697"/>
            <a:ext cx="5294044" cy="1240370"/>
          </a:xfrm>
          <a:prstGeom prst="rect">
            <a:avLst/>
          </a:prstGeom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3A29C6D3-9BA4-E261-A67F-1C98B56A485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853838" y="3851341"/>
            <a:ext cx="3390683" cy="2821583"/>
          </a:xfrm>
          <a:prstGeom prst="rect">
            <a:avLst/>
          </a:prstGeom>
        </p:spPr>
      </p:pic>
      <p:sp>
        <p:nvSpPr>
          <p:cNvPr id="31" name="ZoneTexte 30">
            <a:extLst>
              <a:ext uri="{FF2B5EF4-FFF2-40B4-BE49-F238E27FC236}">
                <a16:creationId xmlns:a16="http://schemas.microsoft.com/office/drawing/2014/main" id="{98EF4C5E-251B-23D8-9D1D-88A89DA540D0}"/>
              </a:ext>
            </a:extLst>
          </p:cNvPr>
          <p:cNvSpPr txBox="1"/>
          <p:nvPr/>
        </p:nvSpPr>
        <p:spPr>
          <a:xfrm>
            <a:off x="21563720" y="1704711"/>
            <a:ext cx="25651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Exemples de dictionnaire des différents personnages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C9BB5F5C-6208-8855-3A1D-139408913EF2}"/>
              </a:ext>
            </a:extLst>
          </p:cNvPr>
          <p:cNvSpPr txBox="1"/>
          <p:nvPr/>
        </p:nvSpPr>
        <p:spPr>
          <a:xfrm>
            <a:off x="18436255" y="5689257"/>
            <a:ext cx="25651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Vérification et affichage du bon skin sur l’écran de sélection</a:t>
            </a:r>
          </a:p>
        </p:txBody>
      </p:sp>
    </p:spTree>
    <p:extLst>
      <p:ext uri="{BB962C8B-B14F-4D97-AF65-F5344CB8AC3E}">
        <p14:creationId xmlns:p14="http://schemas.microsoft.com/office/powerpoint/2010/main" val="25241810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 39">
            <a:extLst>
              <a:ext uri="{FF2B5EF4-FFF2-40B4-BE49-F238E27FC236}">
                <a16:creationId xmlns:a16="http://schemas.microsoft.com/office/drawing/2014/main" id="{A35E5FA6-2CB6-A5CA-74F8-B0C3A703C9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63" y="3851341"/>
            <a:ext cx="3700984" cy="2081804"/>
          </a:xfrm>
          <a:prstGeom prst="rect">
            <a:avLst/>
          </a:prstGeom>
        </p:spPr>
      </p:pic>
      <p:pic>
        <p:nvPicPr>
          <p:cNvPr id="37" name="Image 36">
            <a:extLst>
              <a:ext uri="{FF2B5EF4-FFF2-40B4-BE49-F238E27FC236}">
                <a16:creationId xmlns:a16="http://schemas.microsoft.com/office/drawing/2014/main" id="{94BF9FA3-A52F-75AF-4677-55FABEC14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497" y="1219209"/>
            <a:ext cx="3698096" cy="208180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FA209F1-1111-2BC7-C819-6F375C2B6E01}"/>
              </a:ext>
            </a:extLst>
          </p:cNvPr>
          <p:cNvSpPr/>
          <p:nvPr/>
        </p:nvSpPr>
        <p:spPr>
          <a:xfrm>
            <a:off x="223448" y="1174882"/>
            <a:ext cx="3787291" cy="4813168"/>
          </a:xfrm>
          <a:prstGeom prst="rect">
            <a:avLst/>
          </a:prstGeom>
          <a:noFill/>
          <a:ln w="2857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ED9CF3-3CAE-254D-29CA-DB78EDF138EA}"/>
              </a:ext>
            </a:extLst>
          </p:cNvPr>
          <p:cNvSpPr/>
          <p:nvPr/>
        </p:nvSpPr>
        <p:spPr>
          <a:xfrm>
            <a:off x="3831568" y="1692414"/>
            <a:ext cx="8134035" cy="509891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2EF7DAB-8D92-7EF4-9BA7-A4FAACDE9192}"/>
              </a:ext>
            </a:extLst>
          </p:cNvPr>
          <p:cNvSpPr txBox="1"/>
          <p:nvPr/>
        </p:nvSpPr>
        <p:spPr>
          <a:xfrm>
            <a:off x="2710219" y="185076"/>
            <a:ext cx="67715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Harlow Solid Italic" panose="04030604020F02020D02" pitchFamily="82" charset="0"/>
              </a:rPr>
              <a:t>Différents personnages du jeu</a:t>
            </a:r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1EEDF04B-D209-5B1A-2FB3-A5BA9BFB1C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22299578" y="11583"/>
            <a:ext cx="12192000" cy="6966207"/>
          </a:xfrm>
          <a:prstGeom prst="rect">
            <a:avLst/>
          </a:prstGeom>
        </p:spPr>
      </p:pic>
      <p:sp>
        <p:nvSpPr>
          <p:cNvPr id="28" name="ZoneTexte 27">
            <a:extLst>
              <a:ext uri="{FF2B5EF4-FFF2-40B4-BE49-F238E27FC236}">
                <a16:creationId xmlns:a16="http://schemas.microsoft.com/office/drawing/2014/main" id="{4BC18C66-C950-C989-0EA3-4FC28D1929EA}"/>
              </a:ext>
            </a:extLst>
          </p:cNvPr>
          <p:cNvSpPr txBox="1"/>
          <p:nvPr/>
        </p:nvSpPr>
        <p:spPr>
          <a:xfrm>
            <a:off x="1062692" y="-6241407"/>
            <a:ext cx="100666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0" dirty="0">
                <a:solidFill>
                  <a:srgbClr val="FF6B00"/>
                </a:solidFill>
                <a:latin typeface="Harlow Solid Italic" panose="04030604020F02020D02" pitchFamily="82" charset="0"/>
              </a:rPr>
              <a:t>Merci pour votre écoute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0405F22B-A1C5-23E4-0A91-0DC84A4934D1}"/>
              </a:ext>
            </a:extLst>
          </p:cNvPr>
          <p:cNvSpPr txBox="1"/>
          <p:nvPr/>
        </p:nvSpPr>
        <p:spPr>
          <a:xfrm>
            <a:off x="2710219" y="-3829907"/>
            <a:ext cx="67715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Harlow Solid Italic" panose="04030604020F02020D02" pitchFamily="82" charset="0"/>
              </a:rPr>
              <a:t>Ecran de sélection de niveau</a:t>
            </a: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60DA619A-77A5-EB80-9E0E-F40B31F5A8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727996" y="1276360"/>
            <a:ext cx="3390900" cy="1894136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D2DB00A9-3D0C-86C9-1498-8F9FB78DF3F3}"/>
              </a:ext>
            </a:extLst>
          </p:cNvPr>
          <p:cNvSpPr txBox="1"/>
          <p:nvPr/>
        </p:nvSpPr>
        <p:spPr>
          <a:xfrm>
            <a:off x="-5786441" y="3170496"/>
            <a:ext cx="12774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Affichage </a:t>
            </a:r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4CAB75D5-460E-BF18-712A-85D0DDDA62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37844" y="1712069"/>
            <a:ext cx="2569471" cy="2361027"/>
          </a:xfrm>
          <a:prstGeom prst="rect">
            <a:avLst/>
          </a:prstGeom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986D5CEE-C51F-E8FB-34FD-1FC388B998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50402" y="4128156"/>
            <a:ext cx="6231083" cy="2576764"/>
          </a:xfrm>
          <a:prstGeom prst="rect">
            <a:avLst/>
          </a:prstGeom>
        </p:spPr>
      </p:pic>
      <p:sp>
        <p:nvSpPr>
          <p:cNvPr id="31" name="ZoneTexte 30">
            <a:extLst>
              <a:ext uri="{FF2B5EF4-FFF2-40B4-BE49-F238E27FC236}">
                <a16:creationId xmlns:a16="http://schemas.microsoft.com/office/drawing/2014/main" id="{D806F00A-237B-2C5A-9AB1-1221DE06759C}"/>
              </a:ext>
            </a:extLst>
          </p:cNvPr>
          <p:cNvSpPr txBox="1"/>
          <p:nvPr/>
        </p:nvSpPr>
        <p:spPr>
          <a:xfrm>
            <a:off x="16247078" y="1729820"/>
            <a:ext cx="17890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Classe de l’« </a:t>
            </a:r>
            <a:r>
              <a:rPr lang="fr-FR" sz="2000" dirty="0" err="1">
                <a:latin typeface="Harlow Solid Italic" panose="04030604020F02020D02" pitchFamily="82" charset="0"/>
              </a:rPr>
              <a:t>overworld</a:t>
            </a:r>
            <a:r>
              <a:rPr lang="fr-FR" sz="2000" dirty="0">
                <a:latin typeface="Harlow Solid Italic" panose="04030604020F02020D02" pitchFamily="82" charset="0"/>
              </a:rPr>
              <a:t>» 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96707A56-3B14-BB72-A437-45C74681F733}"/>
              </a:ext>
            </a:extLst>
          </p:cNvPr>
          <p:cNvSpPr txBox="1"/>
          <p:nvPr/>
        </p:nvSpPr>
        <p:spPr>
          <a:xfrm>
            <a:off x="19864248" y="6052094"/>
            <a:ext cx="17890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Données des « nœuds »</a:t>
            </a: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2DBE1B0E-3244-0A24-C8AD-CB79D8F68A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798366" y="1729820"/>
            <a:ext cx="2779236" cy="343551"/>
          </a:xfrm>
          <a:prstGeom prst="rect">
            <a:avLst/>
          </a:prstGeom>
        </p:spPr>
      </p:pic>
      <p:pic>
        <p:nvPicPr>
          <p:cNvPr id="34" name="Image 33">
            <a:extLst>
              <a:ext uri="{FF2B5EF4-FFF2-40B4-BE49-F238E27FC236}">
                <a16:creationId xmlns:a16="http://schemas.microsoft.com/office/drawing/2014/main" id="{C79A38D5-F942-1F03-CC66-B6BFCF7551C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798366" y="2083727"/>
            <a:ext cx="2779236" cy="1289093"/>
          </a:xfrm>
          <a:prstGeom prst="rect">
            <a:avLst/>
          </a:prstGeom>
        </p:spPr>
      </p:pic>
      <p:sp>
        <p:nvSpPr>
          <p:cNvPr id="35" name="ZoneTexte 34">
            <a:extLst>
              <a:ext uri="{FF2B5EF4-FFF2-40B4-BE49-F238E27FC236}">
                <a16:creationId xmlns:a16="http://schemas.microsoft.com/office/drawing/2014/main" id="{0C98EF25-3B58-2065-76BD-D7310144A746}"/>
              </a:ext>
            </a:extLst>
          </p:cNvPr>
          <p:cNvSpPr txBox="1"/>
          <p:nvPr/>
        </p:nvSpPr>
        <p:spPr>
          <a:xfrm>
            <a:off x="18394285" y="3311584"/>
            <a:ext cx="33166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Fonctions pour mettre en place et mettre a jour la position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D1F77B72-F5EC-6E1C-E923-88F0D6552DF0}"/>
              </a:ext>
            </a:extLst>
          </p:cNvPr>
          <p:cNvSpPr txBox="1"/>
          <p:nvPr/>
        </p:nvSpPr>
        <p:spPr>
          <a:xfrm>
            <a:off x="197143" y="3309497"/>
            <a:ext cx="3634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Ecrans de sélection de personnages </a:t>
            </a:r>
          </a:p>
        </p:txBody>
      </p:sp>
      <p:pic>
        <p:nvPicPr>
          <p:cNvPr id="42" name="Image 41">
            <a:extLst>
              <a:ext uri="{FF2B5EF4-FFF2-40B4-BE49-F238E27FC236}">
                <a16:creationId xmlns:a16="http://schemas.microsoft.com/office/drawing/2014/main" id="{03C539CA-EBC4-E4AF-3093-C17822DFA62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75357" y="1737526"/>
            <a:ext cx="5294044" cy="1230556"/>
          </a:xfrm>
          <a:prstGeom prst="rect">
            <a:avLst/>
          </a:prstGeom>
        </p:spPr>
      </p:pic>
      <p:pic>
        <p:nvPicPr>
          <p:cNvPr id="44" name="Image 43">
            <a:extLst>
              <a:ext uri="{FF2B5EF4-FFF2-40B4-BE49-F238E27FC236}">
                <a16:creationId xmlns:a16="http://schemas.microsoft.com/office/drawing/2014/main" id="{10C04F13-AB35-78D8-1321-D8C2768C6AF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74476" y="2992697"/>
            <a:ext cx="5294044" cy="1240370"/>
          </a:xfrm>
          <a:prstGeom prst="rect">
            <a:avLst/>
          </a:prstGeom>
        </p:spPr>
      </p:pic>
      <p:pic>
        <p:nvPicPr>
          <p:cNvPr id="46" name="Image 45">
            <a:extLst>
              <a:ext uri="{FF2B5EF4-FFF2-40B4-BE49-F238E27FC236}">
                <a16:creationId xmlns:a16="http://schemas.microsoft.com/office/drawing/2014/main" id="{2A0A3F83-7E82-21DA-05D9-039945C478C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58638" y="3851341"/>
            <a:ext cx="3390683" cy="2821583"/>
          </a:xfrm>
          <a:prstGeom prst="rect">
            <a:avLst/>
          </a:prstGeom>
        </p:spPr>
      </p:pic>
      <p:sp>
        <p:nvSpPr>
          <p:cNvPr id="47" name="ZoneTexte 46">
            <a:extLst>
              <a:ext uri="{FF2B5EF4-FFF2-40B4-BE49-F238E27FC236}">
                <a16:creationId xmlns:a16="http://schemas.microsoft.com/office/drawing/2014/main" id="{5A99B179-9C03-7DC1-0A04-E7B58BF5882D}"/>
              </a:ext>
            </a:extLst>
          </p:cNvPr>
          <p:cNvSpPr txBox="1"/>
          <p:nvPr/>
        </p:nvSpPr>
        <p:spPr>
          <a:xfrm>
            <a:off x="9168520" y="1704711"/>
            <a:ext cx="25651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Exemples de dictionnaire des différents personnages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7F576A6E-20FC-B06C-413A-FEA74545D8E9}"/>
              </a:ext>
            </a:extLst>
          </p:cNvPr>
          <p:cNvSpPr txBox="1"/>
          <p:nvPr/>
        </p:nvSpPr>
        <p:spPr>
          <a:xfrm>
            <a:off x="6041055" y="5689257"/>
            <a:ext cx="25651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Vérification et affichage du bon skin sur l’écran de sélection</a:t>
            </a:r>
          </a:p>
        </p:txBody>
      </p:sp>
    </p:spTree>
    <p:extLst>
      <p:ext uri="{BB962C8B-B14F-4D97-AF65-F5344CB8AC3E}">
        <p14:creationId xmlns:p14="http://schemas.microsoft.com/office/powerpoint/2010/main" val="6542594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age 35">
            <a:extLst>
              <a:ext uri="{FF2B5EF4-FFF2-40B4-BE49-F238E27FC236}">
                <a16:creationId xmlns:a16="http://schemas.microsoft.com/office/drawing/2014/main" id="{BE5F30D2-728B-B201-D60C-1C6198FC9F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911"/>
            <a:ext cx="12192000" cy="6966207"/>
          </a:xfrm>
          <a:prstGeom prst="rect">
            <a:avLst/>
          </a:prstGeom>
        </p:spPr>
      </p:pic>
      <p:sp>
        <p:nvSpPr>
          <p:cNvPr id="34" name="ZoneTexte 33">
            <a:extLst>
              <a:ext uri="{FF2B5EF4-FFF2-40B4-BE49-F238E27FC236}">
                <a16:creationId xmlns:a16="http://schemas.microsoft.com/office/drawing/2014/main" id="{FA51FD37-4DF1-5373-94E8-BE4CFDCAFDEB}"/>
              </a:ext>
            </a:extLst>
          </p:cNvPr>
          <p:cNvSpPr txBox="1"/>
          <p:nvPr/>
        </p:nvSpPr>
        <p:spPr>
          <a:xfrm>
            <a:off x="1062692" y="-47079"/>
            <a:ext cx="100666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0" dirty="0">
                <a:solidFill>
                  <a:srgbClr val="FF6B00"/>
                </a:solidFill>
                <a:latin typeface="Harlow Solid Italic" panose="04030604020F02020D02" pitchFamily="82" charset="0"/>
              </a:rPr>
              <a:t>Merci pour votre écoute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A84DF813-E7FE-67AE-A83E-2742C522D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910037" y="3851341"/>
            <a:ext cx="3700984" cy="2081804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C760ABE2-9718-78C3-AD9C-29924354E2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923703" y="1219209"/>
            <a:ext cx="3698096" cy="2081804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1996D612-9A5B-EEB0-EA5F-140DB22301FA}"/>
              </a:ext>
            </a:extLst>
          </p:cNvPr>
          <p:cNvSpPr txBox="1"/>
          <p:nvPr/>
        </p:nvSpPr>
        <p:spPr>
          <a:xfrm>
            <a:off x="-6991057" y="3309497"/>
            <a:ext cx="3634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Ecrans de sélection de personnages 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77A8D780-9046-C39B-37D0-5DD6BC18BB18}"/>
              </a:ext>
            </a:extLst>
          </p:cNvPr>
          <p:cNvSpPr txBox="1"/>
          <p:nvPr/>
        </p:nvSpPr>
        <p:spPr>
          <a:xfrm>
            <a:off x="2710219" y="-4336124"/>
            <a:ext cx="67715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Harlow Solid Italic" panose="04030604020F02020D02" pitchFamily="82" charset="0"/>
              </a:rPr>
              <a:t>Différents personnages du jeu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0EF125B-603D-A323-3119-DCEC9B775FE7}"/>
              </a:ext>
            </a:extLst>
          </p:cNvPr>
          <p:cNvSpPr/>
          <p:nvPr/>
        </p:nvSpPr>
        <p:spPr>
          <a:xfrm>
            <a:off x="18904432" y="1692414"/>
            <a:ext cx="8134035" cy="509891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70EBC594-A8AC-524E-1734-BFF46765AB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13760" y="1737526"/>
            <a:ext cx="5294044" cy="1230556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5D221840-9093-5182-58E4-E6CE02A7B3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12879" y="2992697"/>
            <a:ext cx="5294044" cy="1240370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DA44BA58-059F-BA48-FF3E-B39DEE95E1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597041" y="3851341"/>
            <a:ext cx="3390683" cy="2821583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F2DC39C3-82A4-F566-02F5-DDB1B488D9B1}"/>
              </a:ext>
            </a:extLst>
          </p:cNvPr>
          <p:cNvSpPr txBox="1"/>
          <p:nvPr/>
        </p:nvSpPr>
        <p:spPr>
          <a:xfrm>
            <a:off x="24306923" y="1704711"/>
            <a:ext cx="25651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Exemples de dictionnaire des différents personnages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984AD0F7-985B-7D90-1EAF-A3A545BC24CB}"/>
              </a:ext>
            </a:extLst>
          </p:cNvPr>
          <p:cNvSpPr txBox="1"/>
          <p:nvPr/>
        </p:nvSpPr>
        <p:spPr>
          <a:xfrm>
            <a:off x="21179458" y="5689257"/>
            <a:ext cx="25651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Harlow Solid Italic" panose="04030604020F02020D02" pitchFamily="82" charset="0"/>
              </a:rPr>
              <a:t>Vérification et affichage du bon skin sur l’écran de sélection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3254DFF-E888-187E-58E7-0FA7869D4180}"/>
              </a:ext>
            </a:extLst>
          </p:cNvPr>
          <p:cNvSpPr/>
          <p:nvPr/>
        </p:nvSpPr>
        <p:spPr>
          <a:xfrm>
            <a:off x="-6973771" y="1174882"/>
            <a:ext cx="3787291" cy="4813168"/>
          </a:xfrm>
          <a:prstGeom prst="rect">
            <a:avLst/>
          </a:prstGeom>
          <a:noFill/>
          <a:ln w="2857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10705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a71b39b-5edd-40c2-a83c-d2ba0828622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2E7D1B9BB21149895844A87CFF5625" ma:contentTypeVersion="12" ma:contentTypeDescription="Crée un document." ma:contentTypeScope="" ma:versionID="ddfea73b1847ab7cbd83ed604e72d659">
  <xsd:schema xmlns:xsd="http://www.w3.org/2001/XMLSchema" xmlns:xs="http://www.w3.org/2001/XMLSchema" xmlns:p="http://schemas.microsoft.com/office/2006/metadata/properties" xmlns:ns3="da71b39b-5edd-40c2-a83c-d2ba08286222" xmlns:ns4="2b9edaef-e6b2-479a-a1c5-9a9970a68533" targetNamespace="http://schemas.microsoft.com/office/2006/metadata/properties" ma:root="true" ma:fieldsID="e75977f9570e1018a885de4e2ca76890" ns3:_="" ns4:_="">
    <xsd:import namespace="da71b39b-5edd-40c2-a83c-d2ba08286222"/>
    <xsd:import namespace="2b9edaef-e6b2-479a-a1c5-9a9970a6853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71b39b-5edd-40c2-a83c-d2ba082862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internalName="MediaServiceDateTaken" ma:readOnly="true">
      <xsd:simpleType>
        <xsd:restriction base="dms:Text"/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9edaef-e6b2-479a-a1c5-9a9970a68533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1544B1-CD54-48DC-AFAB-662D2864E1CE}">
  <ds:schemaRefs>
    <ds:schemaRef ds:uri="2b9edaef-e6b2-479a-a1c5-9a9970a68533"/>
    <ds:schemaRef ds:uri="http://schemas.microsoft.com/office/2006/documentManagement/types"/>
    <ds:schemaRef ds:uri="http://purl.org/dc/terms/"/>
    <ds:schemaRef ds:uri="http://purl.org/dc/elements/1.1/"/>
    <ds:schemaRef ds:uri="http://purl.org/dc/dcmitype/"/>
    <ds:schemaRef ds:uri="http://schemas.microsoft.com/office/infopath/2007/PartnerControls"/>
    <ds:schemaRef ds:uri="da71b39b-5edd-40c2-a83c-d2ba08286222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55E2B51-63B4-4B57-A337-0C1CE75AE9F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71C9F0E-4124-40CB-B5CE-DFDADC0B33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a71b39b-5edd-40c2-a83c-d2ba08286222"/>
    <ds:schemaRef ds:uri="2b9edaef-e6b2-479a-a1c5-9a9970a6853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416</TotalTime>
  <Words>967</Words>
  <Application>Microsoft Office PowerPoint</Application>
  <PresentationFormat>Grand écran</PresentationFormat>
  <Paragraphs>186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Harlow Solid Italic</vt:lpstr>
      <vt:lpstr>Thème Office</vt:lpstr>
      <vt:lpstr>Super Capy Bros</vt:lpstr>
      <vt:lpstr>Super Capy Bros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 Capy Bros</dc:title>
  <dc:creator>Theotim ALBERTEAU</dc:creator>
  <cp:lastModifiedBy>Theotim ALBERTEAU</cp:lastModifiedBy>
  <cp:revision>36</cp:revision>
  <dcterms:created xsi:type="dcterms:W3CDTF">2023-05-20T19:42:47Z</dcterms:created>
  <dcterms:modified xsi:type="dcterms:W3CDTF">2023-05-31T06:49:11Z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0x010100B62E7D1B9BB21149895844A87CFF5625</vt:lpwstr>
  </property>
</Properties>
</file>